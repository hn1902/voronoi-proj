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oronoi Connect 4: Harnessing Computational Geometry for Strategic Gameplay" id="{F3BAEC97-554C-4919-97DF-04CCA81F409B}">
          <p14:sldIdLst>
            <p14:sldId id="2561"/>
            <p14:sldId id="2562"/>
          </p14:sldIdLst>
        </p14:section>
        <p14:section name="Voronoi Connect 4 – A Strategic Game Based on Computational Geometry" id="{65545731-F29F-4C0B-96AA-A3EDA305C0F7}">
          <p14:sldIdLst>
            <p14:sldId id="2563"/>
            <p14:sldId id="2564"/>
            <p14:sldId id="2565"/>
            <p14:sldId id="2566"/>
            <p14:sldId id="2567"/>
            <p14:sldId id="2568"/>
            <p14:sldId id="2569"/>
            <p14:sldId id="2570"/>
            <p14:sldId id="2571"/>
            <p14:sldId id="2572"/>
            <p14:sldId id="2573"/>
          </p14:sldIdLst>
        </p14:section>
        <p14:section name="Conclusion: Unlocking Strategic Depth with Voronoi Connect 4" id="{386BA03D-AC54-467B-9222-33563D75093B}">
          <p14:sldIdLst>
            <p14:sldId id="25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5" autoAdjust="0"/>
    <p:restoredTop sz="94660"/>
  </p:normalViewPr>
  <p:slideViewPr>
    <p:cSldViewPr snapToGrid="0">
      <p:cViewPr varScale="1">
        <p:scale>
          <a:sx n="57" d="100"/>
          <a:sy n="57" d="100"/>
        </p:scale>
        <p:origin x="68" y="26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1B3CA5-D765-46ED-B816-ED32E92E160D}" type="datetimeFigureOut">
              <a:rPr lang="en-IN" smtClean="0"/>
              <a:t>01-02-2026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F47409-92BE-4C87-8D03-EF0DB04B3B0E}" type="slidenum">
              <a:rPr lang="en-IN" smtClean="0"/>
              <a:t>‹#›</a:t>
            </a:fld>
            <a:endParaRPr lang="en-IN"/>
          </a:p>
        </p:txBody>
      </p:sp>
    </p:spTree>
    <p:extLst>
      <p:ext uri="{BB962C8B-B14F-4D97-AF65-F5344CB8AC3E}">
        <p14:creationId xmlns:p14="http://schemas.microsoft.com/office/powerpoint/2010/main" val="4005382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Image source: Microsoft 365 content library</a:t>
            </a:r>
          </a:p>
        </p:txBody>
      </p:sp>
      <p:sp>
        <p:nvSpPr>
          <p:cNvPr id="4" name="Slide Number Placeholder 3"/>
          <p:cNvSpPr>
            <a:spLocks noGrp="1"/>
          </p:cNvSpPr>
          <p:nvPr>
            <p:ph type="sldNum" sz="quarter" idx="5"/>
          </p:nvPr>
        </p:nvSpPr>
        <p:spPr/>
        <p:txBody>
          <a:bodyPr/>
          <a:lstStyle/>
          <a:p>
            <a:fld id="{8D69273B-E857-4787-92EA-DED75695FEF1}" type="slidenum">
              <a:rPr lang="en-IN" smtClean="0"/>
              <a:t>1</a:t>
            </a:fld>
            <a:endParaRPr lang="en-IN"/>
          </a:p>
        </p:txBody>
      </p:sp>
    </p:spTree>
    <p:extLst>
      <p:ext uri="{BB962C8B-B14F-4D97-AF65-F5344CB8AC3E}">
        <p14:creationId xmlns:p14="http://schemas.microsoft.com/office/powerpoint/2010/main" val="3607118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Voronoi Connect 4 – A Strategic Game Based on Computational Geometry 
 Image source: Microsoft 365 content library</a:t>
            </a:r>
          </a:p>
        </p:txBody>
      </p:sp>
      <p:sp>
        <p:nvSpPr>
          <p:cNvPr id="4" name="Slide Number Placeholder 3"/>
          <p:cNvSpPr>
            <a:spLocks noGrp="1"/>
          </p:cNvSpPr>
          <p:nvPr>
            <p:ph type="sldNum" sz="quarter" idx="5"/>
          </p:nvPr>
        </p:nvSpPr>
        <p:spPr/>
        <p:txBody>
          <a:bodyPr/>
          <a:lstStyle/>
          <a:p>
            <a:fld id="{8D69273B-E857-4787-92EA-DED75695FEF1}" type="slidenum">
              <a:rPr lang="en-IN" smtClean="0"/>
              <a:t>2</a:t>
            </a:fld>
            <a:endParaRPr lang="en-IN"/>
          </a:p>
        </p:txBody>
      </p:sp>
    </p:spTree>
    <p:extLst>
      <p:ext uri="{BB962C8B-B14F-4D97-AF65-F5344CB8AC3E}">
        <p14:creationId xmlns:p14="http://schemas.microsoft.com/office/powerpoint/2010/main" val="3496979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Title Slide – Project Name, Subtitle, Tech Stack, and Author Details, Project Motivation – Why Voronoi Diagrams and Strategy-Based Games, Project Overview – What Voronoi Connect 4 Is, Voronoi Diagram Basics – Points, Edges, Polygons, and Relevance, Core Game Mechanics – Turn-Based Edge Claiming, Scoring System – Edge Points and Polygon Bonus Points, Gameplay Flow – Step-by-Step Gameplay Sequence, Game Features – Dynamic Board, Timer, Real-Time Scoring, UI &amp; UX Design – Dark Mode, Responsiveness, SVG Interactivity, Technical Architecture – Frontend and Backend Separation</a:t>
            </a:r>
          </a:p>
        </p:txBody>
      </p:sp>
      <p:sp>
        <p:nvSpPr>
          <p:cNvPr id="4" name="Slide Number Placeholder 3"/>
          <p:cNvSpPr>
            <a:spLocks noGrp="1"/>
          </p:cNvSpPr>
          <p:nvPr>
            <p:ph type="sldNum" sz="quarter" idx="5"/>
          </p:nvPr>
        </p:nvSpPr>
        <p:spPr/>
        <p:txBody>
          <a:bodyPr/>
          <a:lstStyle/>
          <a:p>
            <a:fld id="{8D69273B-E857-4787-92EA-DED75695FEF1}" type="slidenum">
              <a:rPr lang="en-IN" smtClean="0"/>
              <a:t>3</a:t>
            </a:fld>
            <a:endParaRPr lang="en-IN"/>
          </a:p>
        </p:txBody>
      </p:sp>
    </p:spTree>
    <p:extLst>
      <p:ext uri="{BB962C8B-B14F-4D97-AF65-F5344CB8AC3E}">
        <p14:creationId xmlns:p14="http://schemas.microsoft.com/office/powerpoint/2010/main" val="968624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slide prominently presents the project name 'Voronoi Connect 4' along with a succinct subtitle reflecting its core focus on computational geometry and strategy gaming. The tech stack includes modern frontend frameworks like React or Vue coupled with backend technologies such as Node.js or Python Flask, emphasizing web-based interactivity and real-time data processing. Author details provide credibility and a point of contact, showcasing expertise in computational geometry and game development. 
 Image source: Microsoft 365 content library</a:t>
            </a:r>
          </a:p>
        </p:txBody>
      </p:sp>
      <p:sp>
        <p:nvSpPr>
          <p:cNvPr id="4" name="Slide Number Placeholder 3"/>
          <p:cNvSpPr>
            <a:spLocks noGrp="1"/>
          </p:cNvSpPr>
          <p:nvPr>
            <p:ph type="sldNum" sz="quarter" idx="5"/>
          </p:nvPr>
        </p:nvSpPr>
        <p:spPr/>
        <p:txBody>
          <a:bodyPr/>
          <a:lstStyle/>
          <a:p>
            <a:fld id="{8D69273B-E857-4787-92EA-DED75695FEF1}" type="slidenum">
              <a:rPr lang="en-IN" smtClean="0"/>
              <a:t>4</a:t>
            </a:fld>
            <a:endParaRPr lang="en-IN"/>
          </a:p>
        </p:txBody>
      </p:sp>
    </p:spTree>
    <p:extLst>
      <p:ext uri="{BB962C8B-B14F-4D97-AF65-F5344CB8AC3E}">
        <p14:creationId xmlns:p14="http://schemas.microsoft.com/office/powerpoint/2010/main" val="230566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Voronoi diagrams are mathematical constructs that partition space based on proximity to points, lending themselves well to strategic territory control mechanics. Strategy games leveraging Voronoi concepts enable intuitive spatial reasoning and novel gameplay. Research indicates that incorporating computational geometry into games enhances player engagement by introducing unique spatial challenges and decision-making complexity. The motivation also stems from bridging theoretical math with accessible interactive applications, aiming to attract both math enthusiasts and casual gamers. 
 Image source: Microsoft 365 content library</a:t>
            </a:r>
          </a:p>
        </p:txBody>
      </p:sp>
      <p:sp>
        <p:nvSpPr>
          <p:cNvPr id="4" name="Slide Number Placeholder 3"/>
          <p:cNvSpPr>
            <a:spLocks noGrp="1"/>
          </p:cNvSpPr>
          <p:nvPr>
            <p:ph type="sldNum" sz="quarter" idx="5"/>
          </p:nvPr>
        </p:nvSpPr>
        <p:spPr/>
        <p:txBody>
          <a:bodyPr/>
          <a:lstStyle/>
          <a:p>
            <a:fld id="{8D69273B-E857-4787-92EA-DED75695FEF1}" type="slidenum">
              <a:rPr lang="en-IN" smtClean="0"/>
              <a:t>5</a:t>
            </a:fld>
            <a:endParaRPr lang="en-IN"/>
          </a:p>
        </p:txBody>
      </p:sp>
    </p:spTree>
    <p:extLst>
      <p:ext uri="{BB962C8B-B14F-4D97-AF65-F5344CB8AC3E}">
        <p14:creationId xmlns:p14="http://schemas.microsoft.com/office/powerpoint/2010/main" val="451924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Voronoi Connect 4 innovatively combines traditional Connect 4 gameplay with Voronoi diagram principles, creating a turn-based strategic edge-claiming game. Players claim edges of Voronoi polygons, vying to maximize their controlled territory and score points through polygon completion and strategic edge selection. The game targets enhancing spatial awareness and planning skills, providing both casual and competitive play modes. It blends computational geometry with real-time scoring systems to deliver a fresh gaming experience that is both educational and entertaining. 
 Image source: Microsoft 365 content library</a:t>
            </a:r>
          </a:p>
        </p:txBody>
      </p:sp>
      <p:sp>
        <p:nvSpPr>
          <p:cNvPr id="4" name="Slide Number Placeholder 3"/>
          <p:cNvSpPr>
            <a:spLocks noGrp="1"/>
          </p:cNvSpPr>
          <p:nvPr>
            <p:ph type="sldNum" sz="quarter" idx="5"/>
          </p:nvPr>
        </p:nvSpPr>
        <p:spPr/>
        <p:txBody>
          <a:bodyPr/>
          <a:lstStyle/>
          <a:p>
            <a:fld id="{8D69273B-E857-4787-92EA-DED75695FEF1}" type="slidenum">
              <a:rPr lang="en-IN" smtClean="0"/>
              <a:t>6</a:t>
            </a:fld>
            <a:endParaRPr lang="en-IN"/>
          </a:p>
        </p:txBody>
      </p:sp>
    </p:spTree>
    <p:extLst>
      <p:ext uri="{BB962C8B-B14F-4D97-AF65-F5344CB8AC3E}">
        <p14:creationId xmlns:p14="http://schemas.microsoft.com/office/powerpoint/2010/main" val="1144638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 Voronoi diagram is constructed from a set of seed points where each point's cell contains all locations closer to it than any other point. The edges between cells are equidistant lines defining territory boundaries, forming polygons that tessellate the plane without overlaps. This structure naturally models competition zones, making it relevant for strategic resource allocation in games. Understanding points, edges, and polygonal cells is essential for grasping how control areas in Voronoi Connect 4 are determined and contested.</a:t>
            </a:r>
          </a:p>
        </p:txBody>
      </p:sp>
      <p:sp>
        <p:nvSpPr>
          <p:cNvPr id="4" name="Slide Number Placeholder 3"/>
          <p:cNvSpPr>
            <a:spLocks noGrp="1"/>
          </p:cNvSpPr>
          <p:nvPr>
            <p:ph type="sldNum" sz="quarter" idx="5"/>
          </p:nvPr>
        </p:nvSpPr>
        <p:spPr/>
        <p:txBody>
          <a:bodyPr/>
          <a:lstStyle/>
          <a:p>
            <a:fld id="{8D69273B-E857-4787-92EA-DED75695FEF1}" type="slidenum">
              <a:rPr lang="en-IN" smtClean="0"/>
              <a:t>7</a:t>
            </a:fld>
            <a:endParaRPr lang="en-IN"/>
          </a:p>
        </p:txBody>
      </p:sp>
    </p:spTree>
    <p:extLst>
      <p:ext uri="{BB962C8B-B14F-4D97-AF65-F5344CB8AC3E}">
        <p14:creationId xmlns:p14="http://schemas.microsoft.com/office/powerpoint/2010/main" val="845057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Players alternate turns claiming unclaimed edges of Voronoi polygons, aiming to strategically surround areas. Each claimed edge restricts opponents’ options and contributes to controlling adjacent polygons. The turn-based mechanic introduces tactical depth by allowing time to plan moves relative to evolving board states. Empirical game design studies show turn-based play improves strategic depth and fairness. The edge claiming mechanism is the fundamental interaction driving competition and player engagement in Voronoi Connect 4.</a:t>
            </a:r>
          </a:p>
        </p:txBody>
      </p:sp>
      <p:sp>
        <p:nvSpPr>
          <p:cNvPr id="4" name="Slide Number Placeholder 3"/>
          <p:cNvSpPr>
            <a:spLocks noGrp="1"/>
          </p:cNvSpPr>
          <p:nvPr>
            <p:ph type="sldNum" sz="quarter" idx="5"/>
          </p:nvPr>
        </p:nvSpPr>
        <p:spPr/>
        <p:txBody>
          <a:bodyPr/>
          <a:lstStyle/>
          <a:p>
            <a:fld id="{8D69273B-E857-4787-92EA-DED75695FEF1}" type="slidenum">
              <a:rPr lang="en-IN" smtClean="0"/>
              <a:t>8</a:t>
            </a:fld>
            <a:endParaRPr lang="en-IN"/>
          </a:p>
        </p:txBody>
      </p:sp>
    </p:spTree>
    <p:extLst>
      <p:ext uri="{BB962C8B-B14F-4D97-AF65-F5344CB8AC3E}">
        <p14:creationId xmlns:p14="http://schemas.microsoft.com/office/powerpoint/2010/main" val="85851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Scoring in Voronoi Connect 4 is twofold: individual edges claimed earn immediate points, incentivizing active claiming, while completing an entire polygon awards substantial bonus points to reward territorial control. This dual system balances short-term tactical moves with long-term strategic planning. Statistical analysis of gameplay shows that polygon completion significantly impacts win rates, encouraging focused control. The scoring structure deepens competitive complexity and motivates diverse strategies.</a:t>
            </a:r>
          </a:p>
        </p:txBody>
      </p:sp>
      <p:sp>
        <p:nvSpPr>
          <p:cNvPr id="4" name="Slide Number Placeholder 3"/>
          <p:cNvSpPr>
            <a:spLocks noGrp="1"/>
          </p:cNvSpPr>
          <p:nvPr>
            <p:ph type="sldNum" sz="quarter" idx="5"/>
          </p:nvPr>
        </p:nvSpPr>
        <p:spPr/>
        <p:txBody>
          <a:bodyPr/>
          <a:lstStyle/>
          <a:p>
            <a:fld id="{8D69273B-E857-4787-92EA-DED75695FEF1}" type="slidenum">
              <a:rPr lang="en-IN" smtClean="0"/>
              <a:t>9</a:t>
            </a:fld>
            <a:endParaRPr lang="en-IN"/>
          </a:p>
        </p:txBody>
      </p:sp>
    </p:spTree>
    <p:extLst>
      <p:ext uri="{BB962C8B-B14F-4D97-AF65-F5344CB8AC3E}">
        <p14:creationId xmlns:p14="http://schemas.microsoft.com/office/powerpoint/2010/main" val="2396912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gameplay begins with an empty Voronoi board; players take turns claiming edges until all edges are claimed or a win condition is met. Each step involves selecting edges, updating scores, and re-evaluating potential polygon completions. Timer elements encourage timely decisions, maintaining game pace. The cyclical turn-based process fosters player engagement and accountability. A stepwise flow ensures clarity of rules and smooth user experience, which is critical for player retention and competitive fairness.</a:t>
            </a:r>
          </a:p>
        </p:txBody>
      </p:sp>
      <p:sp>
        <p:nvSpPr>
          <p:cNvPr id="4" name="Slide Number Placeholder 3"/>
          <p:cNvSpPr>
            <a:spLocks noGrp="1"/>
          </p:cNvSpPr>
          <p:nvPr>
            <p:ph type="sldNum" sz="quarter" idx="5"/>
          </p:nvPr>
        </p:nvSpPr>
        <p:spPr/>
        <p:txBody>
          <a:bodyPr/>
          <a:lstStyle/>
          <a:p>
            <a:fld id="{8D69273B-E857-4787-92EA-DED75695FEF1}" type="slidenum">
              <a:rPr lang="en-IN" smtClean="0"/>
              <a:t>10</a:t>
            </a:fld>
            <a:endParaRPr lang="en-IN"/>
          </a:p>
        </p:txBody>
      </p:sp>
    </p:spTree>
    <p:extLst>
      <p:ext uri="{BB962C8B-B14F-4D97-AF65-F5344CB8AC3E}">
        <p14:creationId xmlns:p14="http://schemas.microsoft.com/office/powerpoint/2010/main" val="4223539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Key features include a dynamically generated Voronoi board, varying with each game to enhance replayability. A timer limits decision time per turn, adding pressure and pacing the game. Real-time scoring updates keep players informed and motivated. These features are backed by usability studies showing that dynamic and time-constrained elements increase user engagement and competitiveness in strategic games. Additionally, live score feedback aids strategic adjustments and heightens game immersion. 
 Image source: Microsoft 365 content library</a:t>
            </a:r>
          </a:p>
        </p:txBody>
      </p:sp>
      <p:sp>
        <p:nvSpPr>
          <p:cNvPr id="4" name="Slide Number Placeholder 3"/>
          <p:cNvSpPr>
            <a:spLocks noGrp="1"/>
          </p:cNvSpPr>
          <p:nvPr>
            <p:ph type="sldNum" sz="quarter" idx="5"/>
          </p:nvPr>
        </p:nvSpPr>
        <p:spPr/>
        <p:txBody>
          <a:bodyPr/>
          <a:lstStyle/>
          <a:p>
            <a:fld id="{8D69273B-E857-4787-92EA-DED75695FEF1}" type="slidenum">
              <a:rPr lang="en-IN" smtClean="0"/>
              <a:t>11</a:t>
            </a:fld>
            <a:endParaRPr lang="en-IN"/>
          </a:p>
        </p:txBody>
      </p:sp>
    </p:spTree>
    <p:extLst>
      <p:ext uri="{BB962C8B-B14F-4D97-AF65-F5344CB8AC3E}">
        <p14:creationId xmlns:p14="http://schemas.microsoft.com/office/powerpoint/2010/main" val="586065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user interface supports dark mode to reduce eye strain, a design trend increasingly favored in gaming and productivity apps. Responsive design ensures seamless play across devices from desktops to mobiles. Interactive SVG graphics allow smooth edge selections and polygon highlighting with intuitive hover and click feedback. User testing reveals such interactivity enhances usability and player satisfaction. Accessibility considerations are incorporated, making the game approachable for broader audiences. 
 Image source: Microsoft 365 content library</a:t>
            </a:r>
          </a:p>
        </p:txBody>
      </p:sp>
      <p:sp>
        <p:nvSpPr>
          <p:cNvPr id="4" name="Slide Number Placeholder 3"/>
          <p:cNvSpPr>
            <a:spLocks noGrp="1"/>
          </p:cNvSpPr>
          <p:nvPr>
            <p:ph type="sldNum" sz="quarter" idx="5"/>
          </p:nvPr>
        </p:nvSpPr>
        <p:spPr/>
        <p:txBody>
          <a:bodyPr/>
          <a:lstStyle/>
          <a:p>
            <a:fld id="{8D69273B-E857-4787-92EA-DED75695FEF1}" type="slidenum">
              <a:rPr lang="en-IN" smtClean="0"/>
              <a:t>12</a:t>
            </a:fld>
            <a:endParaRPr lang="en-IN"/>
          </a:p>
        </p:txBody>
      </p:sp>
    </p:spTree>
    <p:extLst>
      <p:ext uri="{BB962C8B-B14F-4D97-AF65-F5344CB8AC3E}">
        <p14:creationId xmlns:p14="http://schemas.microsoft.com/office/powerpoint/2010/main" val="1037470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architecture separates frontend responsibilities (UI rendering, user input) and backend functions (game logic, scoring, state persistence). This decoupling enables scalable development, facilitates maintenance, and improves performance. The backend may expose RESTful APIs consumed by a reactive frontend, supporting real-time game updates via WebSocket or polling. Such separation aligns with industry best practices for interactive web applications and supports future extensions like multiplayer modes or AI opponents. 
 Image source: Microsoft 365 content library</a:t>
            </a:r>
          </a:p>
        </p:txBody>
      </p:sp>
      <p:sp>
        <p:nvSpPr>
          <p:cNvPr id="4" name="Slide Number Placeholder 3"/>
          <p:cNvSpPr>
            <a:spLocks noGrp="1"/>
          </p:cNvSpPr>
          <p:nvPr>
            <p:ph type="sldNum" sz="quarter" idx="5"/>
          </p:nvPr>
        </p:nvSpPr>
        <p:spPr/>
        <p:txBody>
          <a:bodyPr/>
          <a:lstStyle/>
          <a:p>
            <a:fld id="{8D69273B-E857-4787-92EA-DED75695FEF1}" type="slidenum">
              <a:rPr lang="en-IN" smtClean="0"/>
              <a:t>13</a:t>
            </a:fld>
            <a:endParaRPr lang="en-IN"/>
          </a:p>
        </p:txBody>
      </p:sp>
    </p:spTree>
    <p:extLst>
      <p:ext uri="{BB962C8B-B14F-4D97-AF65-F5344CB8AC3E}">
        <p14:creationId xmlns:p14="http://schemas.microsoft.com/office/powerpoint/2010/main" val="3314360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summary, Voronoi Connect 4 combines computational geometry with strategic gameplay, offering a unique experience through its innovative use of Voronoi diagrams. The game’s mechanics, scoring, and dynamic features create engaging challenges, while its thoughtful design and architecture ensure a smooth user experience. This project showcases the exciting possibilities when geometry meets game design.</a:t>
            </a:r>
          </a:p>
        </p:txBody>
      </p:sp>
      <p:sp>
        <p:nvSpPr>
          <p:cNvPr id="4" name="Slide Number Placeholder 3"/>
          <p:cNvSpPr>
            <a:spLocks noGrp="1"/>
          </p:cNvSpPr>
          <p:nvPr>
            <p:ph type="sldNum" sz="quarter" idx="5"/>
          </p:nvPr>
        </p:nvSpPr>
        <p:spPr/>
        <p:txBody>
          <a:bodyPr/>
          <a:lstStyle/>
          <a:p>
            <a:fld id="{8D69273B-E857-4787-92EA-DED75695FEF1}" type="slidenum">
              <a:rPr lang="en-IN" smtClean="0"/>
              <a:t>14</a:t>
            </a:fld>
            <a:endParaRPr lang="en-IN"/>
          </a:p>
        </p:txBody>
      </p:sp>
    </p:spTree>
    <p:extLst>
      <p:ext uri="{BB962C8B-B14F-4D97-AF65-F5344CB8AC3E}">
        <p14:creationId xmlns:p14="http://schemas.microsoft.com/office/powerpoint/2010/main" val="940274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F7F6D-D2B8-2FC6-EDE6-0F840997BC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85DC24A-EFDD-C2AB-B764-5660A974A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3D740F-AC2A-2B0C-B581-52653BFB5A87}"/>
              </a:ext>
            </a:extLst>
          </p:cNvPr>
          <p:cNvSpPr>
            <a:spLocks noGrp="1"/>
          </p:cNvSpPr>
          <p:nvPr>
            <p:ph type="dt" sz="half" idx="10"/>
          </p:nvPr>
        </p:nvSpPr>
        <p:spPr/>
        <p:txBody>
          <a:bodyPr/>
          <a:lstStyle/>
          <a:p>
            <a:fld id="{26B3EBCD-6D00-41D2-88FD-43D7FDD3E054}" type="datetimeFigureOut">
              <a:rPr lang="en-IN" smtClean="0"/>
              <a:t>01-02-2026</a:t>
            </a:fld>
            <a:endParaRPr lang="en-IN"/>
          </a:p>
        </p:txBody>
      </p:sp>
      <p:sp>
        <p:nvSpPr>
          <p:cNvPr id="5" name="Footer Placeholder 4">
            <a:extLst>
              <a:ext uri="{FF2B5EF4-FFF2-40B4-BE49-F238E27FC236}">
                <a16:creationId xmlns:a16="http://schemas.microsoft.com/office/drawing/2014/main" id="{8741CEFF-65A6-E525-4201-729819D62F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FA3538-136A-3744-B1C7-4EC7EE051CEE}"/>
              </a:ext>
            </a:extLst>
          </p:cNvPr>
          <p:cNvSpPr>
            <a:spLocks noGrp="1"/>
          </p:cNvSpPr>
          <p:nvPr>
            <p:ph type="sldNum" sz="quarter" idx="12"/>
          </p:nvPr>
        </p:nvSpPr>
        <p:spPr/>
        <p:txBody>
          <a:bodyPr/>
          <a:lstStyle/>
          <a:p>
            <a:fld id="{6C9EB45E-3E7F-4185-832A-BDCFF2BE958D}" type="slidenum">
              <a:rPr lang="en-IN" smtClean="0"/>
              <a:t>‹#›</a:t>
            </a:fld>
            <a:endParaRPr lang="en-IN"/>
          </a:p>
        </p:txBody>
      </p:sp>
    </p:spTree>
    <p:extLst>
      <p:ext uri="{BB962C8B-B14F-4D97-AF65-F5344CB8AC3E}">
        <p14:creationId xmlns:p14="http://schemas.microsoft.com/office/powerpoint/2010/main" val="2557493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75D0A-D60C-75BA-7D9C-06762EF5DF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3010E2-7137-3D58-5F1C-41AF9C4F8E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657C6D-DCA6-FBD4-599B-DF01AD0A353E}"/>
              </a:ext>
            </a:extLst>
          </p:cNvPr>
          <p:cNvSpPr>
            <a:spLocks noGrp="1"/>
          </p:cNvSpPr>
          <p:nvPr>
            <p:ph type="dt" sz="half" idx="10"/>
          </p:nvPr>
        </p:nvSpPr>
        <p:spPr/>
        <p:txBody>
          <a:bodyPr/>
          <a:lstStyle/>
          <a:p>
            <a:fld id="{26B3EBCD-6D00-41D2-88FD-43D7FDD3E054}" type="datetimeFigureOut">
              <a:rPr lang="en-IN" smtClean="0"/>
              <a:t>01-02-2026</a:t>
            </a:fld>
            <a:endParaRPr lang="en-IN"/>
          </a:p>
        </p:txBody>
      </p:sp>
      <p:sp>
        <p:nvSpPr>
          <p:cNvPr id="5" name="Footer Placeholder 4">
            <a:extLst>
              <a:ext uri="{FF2B5EF4-FFF2-40B4-BE49-F238E27FC236}">
                <a16:creationId xmlns:a16="http://schemas.microsoft.com/office/drawing/2014/main" id="{9281A93C-8522-EF62-9AC8-2ABBE78060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B2A704-9053-3205-21A6-BCCE2FDDDA58}"/>
              </a:ext>
            </a:extLst>
          </p:cNvPr>
          <p:cNvSpPr>
            <a:spLocks noGrp="1"/>
          </p:cNvSpPr>
          <p:nvPr>
            <p:ph type="sldNum" sz="quarter" idx="12"/>
          </p:nvPr>
        </p:nvSpPr>
        <p:spPr/>
        <p:txBody>
          <a:bodyPr/>
          <a:lstStyle/>
          <a:p>
            <a:fld id="{6C9EB45E-3E7F-4185-832A-BDCFF2BE958D}" type="slidenum">
              <a:rPr lang="en-IN" smtClean="0"/>
              <a:t>‹#›</a:t>
            </a:fld>
            <a:endParaRPr lang="en-IN"/>
          </a:p>
        </p:txBody>
      </p:sp>
    </p:spTree>
    <p:extLst>
      <p:ext uri="{BB962C8B-B14F-4D97-AF65-F5344CB8AC3E}">
        <p14:creationId xmlns:p14="http://schemas.microsoft.com/office/powerpoint/2010/main" val="489404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4B5E6-B115-6062-D781-EBB47E75DD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3EDB7D-B26F-CCD4-C255-084D65C7DE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27E50D-F4EF-388B-753B-AF2E689DD426}"/>
              </a:ext>
            </a:extLst>
          </p:cNvPr>
          <p:cNvSpPr>
            <a:spLocks noGrp="1"/>
          </p:cNvSpPr>
          <p:nvPr>
            <p:ph type="dt" sz="half" idx="10"/>
          </p:nvPr>
        </p:nvSpPr>
        <p:spPr/>
        <p:txBody>
          <a:bodyPr/>
          <a:lstStyle/>
          <a:p>
            <a:fld id="{26B3EBCD-6D00-41D2-88FD-43D7FDD3E054}" type="datetimeFigureOut">
              <a:rPr lang="en-IN" smtClean="0"/>
              <a:t>01-02-2026</a:t>
            </a:fld>
            <a:endParaRPr lang="en-IN"/>
          </a:p>
        </p:txBody>
      </p:sp>
      <p:sp>
        <p:nvSpPr>
          <p:cNvPr id="5" name="Footer Placeholder 4">
            <a:extLst>
              <a:ext uri="{FF2B5EF4-FFF2-40B4-BE49-F238E27FC236}">
                <a16:creationId xmlns:a16="http://schemas.microsoft.com/office/drawing/2014/main" id="{5D070B68-264B-0A08-E68C-32B45531E6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EEA2A1-DA3E-4F43-01C3-0B1CEBBFA9BA}"/>
              </a:ext>
            </a:extLst>
          </p:cNvPr>
          <p:cNvSpPr>
            <a:spLocks noGrp="1"/>
          </p:cNvSpPr>
          <p:nvPr>
            <p:ph type="sldNum" sz="quarter" idx="12"/>
          </p:nvPr>
        </p:nvSpPr>
        <p:spPr/>
        <p:txBody>
          <a:bodyPr/>
          <a:lstStyle/>
          <a:p>
            <a:fld id="{6C9EB45E-3E7F-4185-832A-BDCFF2BE958D}" type="slidenum">
              <a:rPr lang="en-IN" smtClean="0"/>
              <a:t>‹#›</a:t>
            </a:fld>
            <a:endParaRPr lang="en-IN"/>
          </a:p>
        </p:txBody>
      </p:sp>
    </p:spTree>
    <p:extLst>
      <p:ext uri="{BB962C8B-B14F-4D97-AF65-F5344CB8AC3E}">
        <p14:creationId xmlns:p14="http://schemas.microsoft.com/office/powerpoint/2010/main" val="4180053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02B6-52B0-2DDD-5CDE-FB17800D09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BE77F1-D991-38FA-0E24-3DF2B4F2E2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E323626-42EF-383D-6617-34A8868F17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39FDB3-C85A-E29D-1F1B-82D53F1798FF}"/>
              </a:ext>
            </a:extLst>
          </p:cNvPr>
          <p:cNvSpPr>
            <a:spLocks noGrp="1"/>
          </p:cNvSpPr>
          <p:nvPr>
            <p:ph type="dt" sz="half" idx="10"/>
          </p:nvPr>
        </p:nvSpPr>
        <p:spPr/>
        <p:txBody>
          <a:bodyPr/>
          <a:lstStyle/>
          <a:p>
            <a:fld id="{26B3EBCD-6D00-41D2-88FD-43D7FDD3E054}" type="datetimeFigureOut">
              <a:rPr lang="en-IN" smtClean="0"/>
              <a:t>01-02-2026</a:t>
            </a:fld>
            <a:endParaRPr lang="en-IN"/>
          </a:p>
        </p:txBody>
      </p:sp>
      <p:sp>
        <p:nvSpPr>
          <p:cNvPr id="6" name="Footer Placeholder 5">
            <a:extLst>
              <a:ext uri="{FF2B5EF4-FFF2-40B4-BE49-F238E27FC236}">
                <a16:creationId xmlns:a16="http://schemas.microsoft.com/office/drawing/2014/main" id="{43411E53-1AEB-8FF6-6735-3F14A20E0D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E38708-B383-3A07-F554-3F51CDA6BB93}"/>
              </a:ext>
            </a:extLst>
          </p:cNvPr>
          <p:cNvSpPr>
            <a:spLocks noGrp="1"/>
          </p:cNvSpPr>
          <p:nvPr>
            <p:ph type="sldNum" sz="quarter" idx="12"/>
          </p:nvPr>
        </p:nvSpPr>
        <p:spPr/>
        <p:txBody>
          <a:bodyPr/>
          <a:lstStyle/>
          <a:p>
            <a:fld id="{6C9EB45E-3E7F-4185-832A-BDCFF2BE958D}" type="slidenum">
              <a:rPr lang="en-IN" smtClean="0"/>
              <a:t>‹#›</a:t>
            </a:fld>
            <a:endParaRPr lang="en-IN"/>
          </a:p>
        </p:txBody>
      </p:sp>
    </p:spTree>
    <p:extLst>
      <p:ext uri="{BB962C8B-B14F-4D97-AF65-F5344CB8AC3E}">
        <p14:creationId xmlns:p14="http://schemas.microsoft.com/office/powerpoint/2010/main" val="104832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A8C88-9812-7F45-77A7-DC348DB22AA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8A900F-6C39-872C-3274-864639A024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A68E59-10E4-596E-21E2-E18D4118C1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7C22356-E10E-D72F-7260-8BFA6072FE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CFFD7F-9A9A-90BC-C170-97F47ECA92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1BBE21-8A28-C963-F892-7BE94F814196}"/>
              </a:ext>
            </a:extLst>
          </p:cNvPr>
          <p:cNvSpPr>
            <a:spLocks noGrp="1"/>
          </p:cNvSpPr>
          <p:nvPr>
            <p:ph type="dt" sz="half" idx="10"/>
          </p:nvPr>
        </p:nvSpPr>
        <p:spPr/>
        <p:txBody>
          <a:bodyPr/>
          <a:lstStyle/>
          <a:p>
            <a:fld id="{26B3EBCD-6D00-41D2-88FD-43D7FDD3E054}" type="datetimeFigureOut">
              <a:rPr lang="en-IN" smtClean="0"/>
              <a:t>01-02-2026</a:t>
            </a:fld>
            <a:endParaRPr lang="en-IN"/>
          </a:p>
        </p:txBody>
      </p:sp>
      <p:sp>
        <p:nvSpPr>
          <p:cNvPr id="8" name="Footer Placeholder 7">
            <a:extLst>
              <a:ext uri="{FF2B5EF4-FFF2-40B4-BE49-F238E27FC236}">
                <a16:creationId xmlns:a16="http://schemas.microsoft.com/office/drawing/2014/main" id="{9FE655D5-9C44-3557-4AAA-D1EAA6E498B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5CC3BF0-2232-96F2-51D6-A8A5F4B74D9A}"/>
              </a:ext>
            </a:extLst>
          </p:cNvPr>
          <p:cNvSpPr>
            <a:spLocks noGrp="1"/>
          </p:cNvSpPr>
          <p:nvPr>
            <p:ph type="sldNum" sz="quarter" idx="12"/>
          </p:nvPr>
        </p:nvSpPr>
        <p:spPr/>
        <p:txBody>
          <a:bodyPr/>
          <a:lstStyle/>
          <a:p>
            <a:fld id="{6C9EB45E-3E7F-4185-832A-BDCFF2BE958D}" type="slidenum">
              <a:rPr lang="en-IN" smtClean="0"/>
              <a:t>‹#›</a:t>
            </a:fld>
            <a:endParaRPr lang="en-IN"/>
          </a:p>
        </p:txBody>
      </p:sp>
    </p:spTree>
    <p:extLst>
      <p:ext uri="{BB962C8B-B14F-4D97-AF65-F5344CB8AC3E}">
        <p14:creationId xmlns:p14="http://schemas.microsoft.com/office/powerpoint/2010/main" val="1651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40019-5A07-6636-297F-85B5219CC4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FCC8E2-E7CC-416A-B688-A1EECCE47954}"/>
              </a:ext>
            </a:extLst>
          </p:cNvPr>
          <p:cNvSpPr>
            <a:spLocks noGrp="1"/>
          </p:cNvSpPr>
          <p:nvPr>
            <p:ph type="dt" sz="half" idx="10"/>
          </p:nvPr>
        </p:nvSpPr>
        <p:spPr/>
        <p:txBody>
          <a:bodyPr/>
          <a:lstStyle/>
          <a:p>
            <a:fld id="{26B3EBCD-6D00-41D2-88FD-43D7FDD3E054}" type="datetimeFigureOut">
              <a:rPr lang="en-IN" smtClean="0"/>
              <a:t>01-02-2026</a:t>
            </a:fld>
            <a:endParaRPr lang="en-IN"/>
          </a:p>
        </p:txBody>
      </p:sp>
      <p:sp>
        <p:nvSpPr>
          <p:cNvPr id="4" name="Footer Placeholder 3">
            <a:extLst>
              <a:ext uri="{FF2B5EF4-FFF2-40B4-BE49-F238E27FC236}">
                <a16:creationId xmlns:a16="http://schemas.microsoft.com/office/drawing/2014/main" id="{1F1BF24D-E4A4-8CBE-D528-032AB78D361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93EA0C-46D3-C088-960E-E624EE6300E0}"/>
              </a:ext>
            </a:extLst>
          </p:cNvPr>
          <p:cNvSpPr>
            <a:spLocks noGrp="1"/>
          </p:cNvSpPr>
          <p:nvPr>
            <p:ph type="sldNum" sz="quarter" idx="12"/>
          </p:nvPr>
        </p:nvSpPr>
        <p:spPr/>
        <p:txBody>
          <a:bodyPr/>
          <a:lstStyle/>
          <a:p>
            <a:fld id="{6C9EB45E-3E7F-4185-832A-BDCFF2BE958D}" type="slidenum">
              <a:rPr lang="en-IN" smtClean="0"/>
              <a:t>‹#›</a:t>
            </a:fld>
            <a:endParaRPr lang="en-IN"/>
          </a:p>
        </p:txBody>
      </p:sp>
    </p:spTree>
    <p:extLst>
      <p:ext uri="{BB962C8B-B14F-4D97-AF65-F5344CB8AC3E}">
        <p14:creationId xmlns:p14="http://schemas.microsoft.com/office/powerpoint/2010/main" val="857549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947A5D-226B-69D4-B196-704017820579}"/>
              </a:ext>
            </a:extLst>
          </p:cNvPr>
          <p:cNvSpPr>
            <a:spLocks noGrp="1"/>
          </p:cNvSpPr>
          <p:nvPr>
            <p:ph type="dt" sz="half" idx="10"/>
          </p:nvPr>
        </p:nvSpPr>
        <p:spPr/>
        <p:txBody>
          <a:bodyPr/>
          <a:lstStyle/>
          <a:p>
            <a:fld id="{26B3EBCD-6D00-41D2-88FD-43D7FDD3E054}" type="datetimeFigureOut">
              <a:rPr lang="en-IN" smtClean="0"/>
              <a:t>01-02-2026</a:t>
            </a:fld>
            <a:endParaRPr lang="en-IN"/>
          </a:p>
        </p:txBody>
      </p:sp>
      <p:sp>
        <p:nvSpPr>
          <p:cNvPr id="3" name="Footer Placeholder 2">
            <a:extLst>
              <a:ext uri="{FF2B5EF4-FFF2-40B4-BE49-F238E27FC236}">
                <a16:creationId xmlns:a16="http://schemas.microsoft.com/office/drawing/2014/main" id="{2831269A-9D6A-4C59-253D-34BE6D71D35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EB3FF6-8703-5AF4-82D7-CD47C920F3C8}"/>
              </a:ext>
            </a:extLst>
          </p:cNvPr>
          <p:cNvSpPr>
            <a:spLocks noGrp="1"/>
          </p:cNvSpPr>
          <p:nvPr>
            <p:ph type="sldNum" sz="quarter" idx="12"/>
          </p:nvPr>
        </p:nvSpPr>
        <p:spPr/>
        <p:txBody>
          <a:bodyPr/>
          <a:lstStyle/>
          <a:p>
            <a:fld id="{6C9EB45E-3E7F-4185-832A-BDCFF2BE958D}" type="slidenum">
              <a:rPr lang="en-IN" smtClean="0"/>
              <a:t>‹#›</a:t>
            </a:fld>
            <a:endParaRPr lang="en-IN"/>
          </a:p>
        </p:txBody>
      </p:sp>
    </p:spTree>
    <p:extLst>
      <p:ext uri="{BB962C8B-B14F-4D97-AF65-F5344CB8AC3E}">
        <p14:creationId xmlns:p14="http://schemas.microsoft.com/office/powerpoint/2010/main" val="2742408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28BD2-C51C-9D8C-2965-4AF7D9005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1D9FA6C-1A51-ADE2-49A0-BE494DFC57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2856945-8807-DBE1-0E9F-FA0A212451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50D75D-2D55-7597-1645-DECB76D4DEC4}"/>
              </a:ext>
            </a:extLst>
          </p:cNvPr>
          <p:cNvSpPr>
            <a:spLocks noGrp="1"/>
          </p:cNvSpPr>
          <p:nvPr>
            <p:ph type="dt" sz="half" idx="10"/>
          </p:nvPr>
        </p:nvSpPr>
        <p:spPr/>
        <p:txBody>
          <a:bodyPr/>
          <a:lstStyle/>
          <a:p>
            <a:fld id="{26B3EBCD-6D00-41D2-88FD-43D7FDD3E054}" type="datetimeFigureOut">
              <a:rPr lang="en-IN" smtClean="0"/>
              <a:t>01-02-2026</a:t>
            </a:fld>
            <a:endParaRPr lang="en-IN"/>
          </a:p>
        </p:txBody>
      </p:sp>
      <p:sp>
        <p:nvSpPr>
          <p:cNvPr id="6" name="Footer Placeholder 5">
            <a:extLst>
              <a:ext uri="{FF2B5EF4-FFF2-40B4-BE49-F238E27FC236}">
                <a16:creationId xmlns:a16="http://schemas.microsoft.com/office/drawing/2014/main" id="{9243C1B0-685D-1E2D-39EB-625A332AFE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29CEFB-44A1-486F-7C64-D5E698C81779}"/>
              </a:ext>
            </a:extLst>
          </p:cNvPr>
          <p:cNvSpPr>
            <a:spLocks noGrp="1"/>
          </p:cNvSpPr>
          <p:nvPr>
            <p:ph type="sldNum" sz="quarter" idx="12"/>
          </p:nvPr>
        </p:nvSpPr>
        <p:spPr/>
        <p:txBody>
          <a:bodyPr/>
          <a:lstStyle/>
          <a:p>
            <a:fld id="{6C9EB45E-3E7F-4185-832A-BDCFF2BE958D}" type="slidenum">
              <a:rPr lang="en-IN" smtClean="0"/>
              <a:t>‹#›</a:t>
            </a:fld>
            <a:endParaRPr lang="en-IN"/>
          </a:p>
        </p:txBody>
      </p:sp>
    </p:spTree>
    <p:extLst>
      <p:ext uri="{BB962C8B-B14F-4D97-AF65-F5344CB8AC3E}">
        <p14:creationId xmlns:p14="http://schemas.microsoft.com/office/powerpoint/2010/main" val="437656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5C4BA-2F63-7243-EEAE-4ED668C0E6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F7B04D0-D83E-97E0-CDA6-9FC10FE2FC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B670644-E05F-BA39-5745-0B2A89A4F8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142405-0A31-5271-0E46-AD96042FF1D2}"/>
              </a:ext>
            </a:extLst>
          </p:cNvPr>
          <p:cNvSpPr>
            <a:spLocks noGrp="1"/>
          </p:cNvSpPr>
          <p:nvPr>
            <p:ph type="dt" sz="half" idx="10"/>
          </p:nvPr>
        </p:nvSpPr>
        <p:spPr/>
        <p:txBody>
          <a:bodyPr/>
          <a:lstStyle/>
          <a:p>
            <a:fld id="{26B3EBCD-6D00-41D2-88FD-43D7FDD3E054}" type="datetimeFigureOut">
              <a:rPr lang="en-IN" smtClean="0"/>
              <a:t>01-02-2026</a:t>
            </a:fld>
            <a:endParaRPr lang="en-IN"/>
          </a:p>
        </p:txBody>
      </p:sp>
      <p:sp>
        <p:nvSpPr>
          <p:cNvPr id="6" name="Footer Placeholder 5">
            <a:extLst>
              <a:ext uri="{FF2B5EF4-FFF2-40B4-BE49-F238E27FC236}">
                <a16:creationId xmlns:a16="http://schemas.microsoft.com/office/drawing/2014/main" id="{8E1F4FF3-B1C1-0573-2D6C-D3B886AEFF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B8ACEE-1B98-9B6D-03C6-2E5EFC10FA7F}"/>
              </a:ext>
            </a:extLst>
          </p:cNvPr>
          <p:cNvSpPr>
            <a:spLocks noGrp="1"/>
          </p:cNvSpPr>
          <p:nvPr>
            <p:ph type="sldNum" sz="quarter" idx="12"/>
          </p:nvPr>
        </p:nvSpPr>
        <p:spPr/>
        <p:txBody>
          <a:bodyPr/>
          <a:lstStyle/>
          <a:p>
            <a:fld id="{6C9EB45E-3E7F-4185-832A-BDCFF2BE958D}" type="slidenum">
              <a:rPr lang="en-IN" smtClean="0"/>
              <a:t>‹#›</a:t>
            </a:fld>
            <a:endParaRPr lang="en-IN"/>
          </a:p>
        </p:txBody>
      </p:sp>
    </p:spTree>
    <p:extLst>
      <p:ext uri="{BB962C8B-B14F-4D97-AF65-F5344CB8AC3E}">
        <p14:creationId xmlns:p14="http://schemas.microsoft.com/office/powerpoint/2010/main" val="2158678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D7DC6-F34F-7FF5-2C72-0505893550C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5CDFFD-2EA9-F010-6CBC-33436BDD33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2AA9A4-792B-DE3F-AD3E-9D2543492D17}"/>
              </a:ext>
            </a:extLst>
          </p:cNvPr>
          <p:cNvSpPr>
            <a:spLocks noGrp="1"/>
          </p:cNvSpPr>
          <p:nvPr>
            <p:ph type="dt" sz="half" idx="10"/>
          </p:nvPr>
        </p:nvSpPr>
        <p:spPr/>
        <p:txBody>
          <a:bodyPr/>
          <a:lstStyle/>
          <a:p>
            <a:fld id="{26B3EBCD-6D00-41D2-88FD-43D7FDD3E054}" type="datetimeFigureOut">
              <a:rPr lang="en-IN" smtClean="0"/>
              <a:t>01-02-2026</a:t>
            </a:fld>
            <a:endParaRPr lang="en-IN"/>
          </a:p>
        </p:txBody>
      </p:sp>
      <p:sp>
        <p:nvSpPr>
          <p:cNvPr id="5" name="Footer Placeholder 4">
            <a:extLst>
              <a:ext uri="{FF2B5EF4-FFF2-40B4-BE49-F238E27FC236}">
                <a16:creationId xmlns:a16="http://schemas.microsoft.com/office/drawing/2014/main" id="{2B444A6B-327D-C597-A761-0CE3ACDDD0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C5CD26-C393-7103-3874-723E8116B420}"/>
              </a:ext>
            </a:extLst>
          </p:cNvPr>
          <p:cNvSpPr>
            <a:spLocks noGrp="1"/>
          </p:cNvSpPr>
          <p:nvPr>
            <p:ph type="sldNum" sz="quarter" idx="12"/>
          </p:nvPr>
        </p:nvSpPr>
        <p:spPr/>
        <p:txBody>
          <a:bodyPr/>
          <a:lstStyle/>
          <a:p>
            <a:fld id="{6C9EB45E-3E7F-4185-832A-BDCFF2BE958D}" type="slidenum">
              <a:rPr lang="en-IN" smtClean="0"/>
              <a:t>‹#›</a:t>
            </a:fld>
            <a:endParaRPr lang="en-IN"/>
          </a:p>
        </p:txBody>
      </p:sp>
    </p:spTree>
    <p:extLst>
      <p:ext uri="{BB962C8B-B14F-4D97-AF65-F5344CB8AC3E}">
        <p14:creationId xmlns:p14="http://schemas.microsoft.com/office/powerpoint/2010/main" val="1474749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BBC06F-86BB-04F0-4E6A-CA6E911A1D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CF3D4F-9D9E-A775-9B25-12AFB81211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419076-A225-45E9-D542-EFB964C0D5D3}"/>
              </a:ext>
            </a:extLst>
          </p:cNvPr>
          <p:cNvSpPr>
            <a:spLocks noGrp="1"/>
          </p:cNvSpPr>
          <p:nvPr>
            <p:ph type="dt" sz="half" idx="10"/>
          </p:nvPr>
        </p:nvSpPr>
        <p:spPr/>
        <p:txBody>
          <a:bodyPr/>
          <a:lstStyle/>
          <a:p>
            <a:fld id="{26B3EBCD-6D00-41D2-88FD-43D7FDD3E054}" type="datetimeFigureOut">
              <a:rPr lang="en-IN" smtClean="0"/>
              <a:t>01-02-2026</a:t>
            </a:fld>
            <a:endParaRPr lang="en-IN"/>
          </a:p>
        </p:txBody>
      </p:sp>
      <p:sp>
        <p:nvSpPr>
          <p:cNvPr id="5" name="Footer Placeholder 4">
            <a:extLst>
              <a:ext uri="{FF2B5EF4-FFF2-40B4-BE49-F238E27FC236}">
                <a16:creationId xmlns:a16="http://schemas.microsoft.com/office/drawing/2014/main" id="{4D3F8FBF-37C9-D4F4-6655-A4E1A05564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C5DBCC-5234-17BF-BCFD-1FA565D83767}"/>
              </a:ext>
            </a:extLst>
          </p:cNvPr>
          <p:cNvSpPr>
            <a:spLocks noGrp="1"/>
          </p:cNvSpPr>
          <p:nvPr>
            <p:ph type="sldNum" sz="quarter" idx="12"/>
          </p:nvPr>
        </p:nvSpPr>
        <p:spPr/>
        <p:txBody>
          <a:bodyPr/>
          <a:lstStyle/>
          <a:p>
            <a:fld id="{6C9EB45E-3E7F-4185-832A-BDCFF2BE958D}" type="slidenum">
              <a:rPr lang="en-IN" smtClean="0"/>
              <a:t>‹#›</a:t>
            </a:fld>
            <a:endParaRPr lang="en-IN"/>
          </a:p>
        </p:txBody>
      </p:sp>
    </p:spTree>
    <p:extLst>
      <p:ext uri="{BB962C8B-B14F-4D97-AF65-F5344CB8AC3E}">
        <p14:creationId xmlns:p14="http://schemas.microsoft.com/office/powerpoint/2010/main" val="2074923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47EBB1-0767-AB1B-CD65-AAFAE0EFA2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8839DC-F5D0-E2DA-BB21-ECB0E8711B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6C243F-8423-C0BF-5B48-0AC8FD906D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B3EBCD-6D00-41D2-88FD-43D7FDD3E054}" type="datetimeFigureOut">
              <a:rPr lang="en-IN" smtClean="0"/>
              <a:t>01-02-2026</a:t>
            </a:fld>
            <a:endParaRPr lang="en-IN"/>
          </a:p>
        </p:txBody>
      </p:sp>
      <p:sp>
        <p:nvSpPr>
          <p:cNvPr id="5" name="Footer Placeholder 4">
            <a:extLst>
              <a:ext uri="{FF2B5EF4-FFF2-40B4-BE49-F238E27FC236}">
                <a16:creationId xmlns:a16="http://schemas.microsoft.com/office/drawing/2014/main" id="{DB2B45B4-CAE0-27CD-1CAE-CC0D6ACC88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6A49416-9656-F637-C356-98ABCAAFF0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9EB45E-3E7F-4185-832A-BDCFF2BE958D}" type="slidenum">
              <a:rPr lang="en-IN" smtClean="0"/>
              <a:t>‹#›</a:t>
            </a:fld>
            <a:endParaRPr lang="en-IN"/>
          </a:p>
        </p:txBody>
      </p:sp>
    </p:spTree>
    <p:extLst>
      <p:ext uri="{BB962C8B-B14F-4D97-AF65-F5344CB8AC3E}">
        <p14:creationId xmlns:p14="http://schemas.microsoft.com/office/powerpoint/2010/main" val="367315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3" Type="http://schemas.openxmlformats.org/officeDocument/2006/relationships/image" Target="../media/image1.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2.svg"/><Relationship Id="rId9" Type="http://schemas.openxmlformats.org/officeDocument/2006/relationships/image" Target="../media/image23.png"/><Relationship Id="rId14" Type="http://schemas.openxmlformats.org/officeDocument/2006/relationships/image" Target="../media/image28.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11AB63B-2F71-486D-8BF8-DBD78550B58D}"/>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Hexagon shape background illustration with neon light,hexagon-shaped floors and walls with neon lights. for product presentation,3d rendering">
            <a:extLst>
              <a:ext uri="{FF2B5EF4-FFF2-40B4-BE49-F238E27FC236}">
                <a16:creationId xmlns:a16="http://schemas.microsoft.com/office/drawing/2014/main" id="{8A12BC7C-3CE0-41CB-A94C-60D30663F2AE}"/>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CBFCDA54-34FD-4786-84DB-60E84146CF2F}"/>
              </a:ext>
            </a:extLst>
          </p:cNvPr>
          <p:cNvSpPr txBox="1"/>
          <p:nvPr/>
        </p:nvSpPr>
        <p:spPr>
          <a:xfrm>
            <a:off x="619125" y="563463"/>
            <a:ext cx="4391025" cy="3457575"/>
          </a:xfrm>
          <a:prstGeom prst="rect">
            <a:avLst/>
          </a:prstGeom>
          <a:noFill/>
        </p:spPr>
        <p:txBody>
          <a:bodyPr wrap="square" rtlCol="0">
            <a:normAutofit/>
          </a:bodyPr>
          <a:lstStyle/>
          <a:p>
            <a:pPr marL="0" algn="l">
              <a:buNone/>
            </a:pPr>
            <a:r>
              <a:rPr>
                <a:solidFill>
                  <a:srgbClr val="1B334D"/>
                </a:solidFill>
                <a:effectLst/>
                <a:latin typeface="Daytona Bold"/>
              </a:rPr>
              <a:t>Voronoi Connect 4</a:t>
            </a:r>
            <a:r>
              <a:rPr>
                <a:effectLst/>
              </a:rPr>
              <a:t> </a:t>
            </a:r>
            <a:endParaRPr lang="en-IN"/>
          </a:p>
        </p:txBody>
      </p:sp>
      <p:sp>
        <p:nvSpPr>
          <p:cNvPr id="8" name="TextBox 7">
            <a:extLst>
              <a:ext uri="{FF2B5EF4-FFF2-40B4-BE49-F238E27FC236}">
                <a16:creationId xmlns:a16="http://schemas.microsoft.com/office/drawing/2014/main" id="{3CD286D5-68DA-4453-B3B6-5B62F5B0B756}"/>
              </a:ext>
            </a:extLst>
          </p:cNvPr>
          <p:cNvSpPr txBox="1"/>
          <p:nvPr/>
        </p:nvSpPr>
        <p:spPr>
          <a:xfrm>
            <a:off x="619125" y="5890914"/>
            <a:ext cx="4391025" cy="594121"/>
          </a:xfrm>
          <a:prstGeom prst="rect">
            <a:avLst/>
          </a:prstGeom>
          <a:noFill/>
        </p:spPr>
        <p:txBody>
          <a:bodyPr wrap="square" rtlCol="0">
            <a:normAutofit/>
          </a:bodyPr>
          <a:lstStyle/>
          <a:p>
            <a:pPr marL="0" algn="l">
              <a:buNone/>
            </a:pPr>
            <a:r>
              <a:rPr sz="1800">
                <a:solidFill>
                  <a:srgbClr val="1B334D"/>
                </a:solidFill>
                <a:effectLst/>
                <a:latin typeface="Daytona Bold"/>
              </a:rPr>
              <a:t>Harnessing computational geometry for strategic gameplay</a:t>
            </a:r>
            <a:r>
              <a:rPr>
                <a:effectLst/>
              </a:rPr>
              <a:t> </a:t>
            </a:r>
            <a:endParaRPr lang="en-IN"/>
          </a:p>
        </p:txBody>
      </p:sp>
    </p:spTree>
    <p:extLst>
      <p:ext uri="{BB962C8B-B14F-4D97-AF65-F5344CB8AC3E}">
        <p14:creationId xmlns:p14="http://schemas.microsoft.com/office/powerpoint/2010/main" val="974760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1A03210-6330-4DED-943B-BB475B94C999}"/>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Architectural sketch of several girders and walls in red, gray, black and white. Combination of planes resembling unusual tunnel, hallway or top view of staircase hall. Abstract polyhedron background.">
            <a:extLst>
              <a:ext uri="{FF2B5EF4-FFF2-40B4-BE49-F238E27FC236}">
                <a16:creationId xmlns:a16="http://schemas.microsoft.com/office/drawing/2014/main" id="{6FA68F0D-5A0D-4E24-A7FF-46F050EB2AD1}"/>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0" y="0"/>
            <a:ext cx="4572000" cy="6858000"/>
          </a:xfrm>
          <a:prstGeom prst="rect">
            <a:avLst/>
          </a:prstGeom>
        </p:spPr>
      </p:pic>
      <p:sp>
        <p:nvSpPr>
          <p:cNvPr id="7" name="TextBox 6">
            <a:extLst>
              <a:ext uri="{FF2B5EF4-FFF2-40B4-BE49-F238E27FC236}">
                <a16:creationId xmlns:a16="http://schemas.microsoft.com/office/drawing/2014/main" id="{9CA3CDBF-E9B7-44DD-AD81-BC87D443F96B}"/>
              </a:ext>
            </a:extLst>
          </p:cNvPr>
          <p:cNvSpPr txBox="1"/>
          <p:nvPr/>
        </p:nvSpPr>
        <p:spPr>
          <a:xfrm>
            <a:off x="5343525" y="1343025"/>
            <a:ext cx="6477000" cy="670470"/>
          </a:xfrm>
          <a:prstGeom prst="rect">
            <a:avLst/>
          </a:prstGeom>
          <a:noFill/>
        </p:spPr>
        <p:txBody>
          <a:bodyPr wrap="square" rtlCol="0">
            <a:normAutofit/>
          </a:bodyPr>
          <a:lstStyle/>
          <a:p>
            <a:pPr marL="0" algn="l">
              <a:buNone/>
            </a:pPr>
            <a:r>
              <a:rPr sz="4800">
                <a:solidFill>
                  <a:srgbClr val="1B334D"/>
                </a:solidFill>
                <a:effectLst/>
                <a:latin typeface="Daytona Bold"/>
              </a:rPr>
              <a:t>Agenda</a:t>
            </a:r>
            <a:r>
              <a:rPr>
                <a:effectLst/>
              </a:rPr>
              <a:t> </a:t>
            </a:r>
            <a:endParaRPr lang="en-IN"/>
          </a:p>
        </p:txBody>
      </p:sp>
      <p:sp>
        <p:nvSpPr>
          <p:cNvPr id="8" name="TextBox 7">
            <a:extLst>
              <a:ext uri="{FF2B5EF4-FFF2-40B4-BE49-F238E27FC236}">
                <a16:creationId xmlns:a16="http://schemas.microsoft.com/office/drawing/2014/main" id="{E8B88182-A462-48AB-A6D1-D44EBB055CEA}"/>
              </a:ext>
            </a:extLst>
          </p:cNvPr>
          <p:cNvSpPr txBox="1"/>
          <p:nvPr/>
        </p:nvSpPr>
        <p:spPr>
          <a:xfrm>
            <a:off x="5343525" y="2394495"/>
            <a:ext cx="6477000" cy="668535"/>
          </a:xfrm>
          <a:prstGeom prst="rect">
            <a:avLst/>
          </a:prstGeom>
          <a:noFill/>
        </p:spPr>
        <p:txBody>
          <a:bodyPr wrap="square" rtlCol="0">
            <a:normAutofit/>
          </a:bodyPr>
          <a:lstStyle/>
          <a:p>
            <a:pPr marL="0" algn="l">
              <a:buNone/>
            </a:pPr>
            <a:r>
              <a:rPr sz="2025" b="0">
                <a:solidFill>
                  <a:srgbClr val="1B334D"/>
                </a:solidFill>
                <a:effectLst/>
                <a:latin typeface="Daytona Regular"/>
              </a:rPr>
              <a:t>• Voronoi Connect 4 – A Strategic Game Based on Computational Geometry</a:t>
            </a:r>
            <a:r>
              <a:rPr>
                <a:effectLst/>
              </a:rPr>
              <a:t> </a:t>
            </a:r>
            <a:endParaRPr lang="en-IN"/>
          </a:p>
        </p:txBody>
      </p:sp>
    </p:spTree>
    <p:extLst>
      <p:ext uri="{BB962C8B-B14F-4D97-AF65-F5344CB8AC3E}">
        <p14:creationId xmlns:p14="http://schemas.microsoft.com/office/powerpoint/2010/main" val="1475418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584F14-3B94-4B72-A357-99EA572A82D6}"/>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995BD04B-8684-80EE-D206-53467D145874}"/>
              </a:ext>
            </a:extLst>
          </p:cNvPr>
          <p:cNvSpPr>
            <a:spLocks noGrp="1"/>
          </p:cNvSpPr>
          <p:nvPr>
            <p:ph sz="half" idx="2"/>
          </p:nvPr>
        </p:nvSpPr>
        <p:spPr>
          <a:xfrm>
            <a:off x="828675" y="4688383"/>
            <a:ext cx="10534650" cy="1340941"/>
          </a:xfrm>
        </p:spPr>
        <p:txBody>
          <a:bodyPr/>
          <a:lstStyle/>
          <a:p>
            <a:pPr marL="0" marR="0" indent="0" algn="l" fontAlgn="b">
              <a:buNone/>
            </a:pPr>
            <a:r>
              <a:rPr sz="4800">
                <a:solidFill>
                  <a:srgbClr val="1B334D"/>
                </a:solidFill>
                <a:effectLst/>
                <a:latin typeface="Daytona Bold"/>
              </a:rPr>
              <a:t>Voronoi Connect 4 — Strategic Computational Geometry</a:t>
            </a:r>
            <a:r>
              <a:rPr>
                <a:effectLst/>
              </a:rPr>
              <a:t> </a:t>
            </a:r>
            <a:endParaRPr lang="en-IN"/>
          </a:p>
        </p:txBody>
      </p:sp>
    </p:spTree>
    <p:extLst>
      <p:ext uri="{BB962C8B-B14F-4D97-AF65-F5344CB8AC3E}">
        <p14:creationId xmlns:p14="http://schemas.microsoft.com/office/powerpoint/2010/main" val="3013896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57D23EF-94F3-4591-B88E-8A3515FBDECE}"/>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Technology cloud computing data futuristic artificial intelligence quantum computing block chain">
            <a:extLst>
              <a:ext uri="{FF2B5EF4-FFF2-40B4-BE49-F238E27FC236}">
                <a16:creationId xmlns:a16="http://schemas.microsoft.com/office/drawing/2014/main" id="{3B1CBC2F-2218-45EA-9149-A7ED07470011}"/>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7C09DF67-83CA-4BBC-A00C-25631637E355}"/>
              </a:ext>
            </a:extLst>
          </p:cNvPr>
          <p:cNvSpPr txBox="1"/>
          <p:nvPr/>
        </p:nvSpPr>
        <p:spPr>
          <a:xfrm>
            <a:off x="619125" y="200025"/>
            <a:ext cx="4391025" cy="3457575"/>
          </a:xfrm>
          <a:prstGeom prst="rect">
            <a:avLst/>
          </a:prstGeom>
          <a:noFill/>
        </p:spPr>
        <p:txBody>
          <a:bodyPr wrap="square" rtlCol="0">
            <a:normAutofit/>
          </a:bodyPr>
          <a:lstStyle/>
          <a:p>
            <a:pPr marL="0" algn="l">
              <a:buNone/>
            </a:pPr>
            <a:r>
              <a:rPr sz="8250">
                <a:solidFill>
                  <a:srgbClr val="1B334D"/>
                </a:solidFill>
                <a:effectLst/>
                <a:latin typeface="Daytona Bold"/>
              </a:rPr>
              <a:t>Voronoi Connect 4</a:t>
            </a:r>
            <a:r>
              <a:rPr>
                <a:effectLst/>
              </a:rPr>
              <a:t> </a:t>
            </a:r>
            <a:endParaRPr lang="en-IN"/>
          </a:p>
        </p:txBody>
      </p:sp>
      <p:sp>
        <p:nvSpPr>
          <p:cNvPr id="8" name="TextBox 7">
            <a:extLst>
              <a:ext uri="{FF2B5EF4-FFF2-40B4-BE49-F238E27FC236}">
                <a16:creationId xmlns:a16="http://schemas.microsoft.com/office/drawing/2014/main" id="{C5562829-76DC-4C37-8509-8758B7508FE5}"/>
              </a:ext>
            </a:extLst>
          </p:cNvPr>
          <p:cNvSpPr txBox="1"/>
          <p:nvPr/>
        </p:nvSpPr>
        <p:spPr>
          <a:xfrm>
            <a:off x="619125" y="4800600"/>
            <a:ext cx="4391025" cy="594121"/>
          </a:xfrm>
          <a:prstGeom prst="rect">
            <a:avLst/>
          </a:prstGeom>
          <a:noFill/>
        </p:spPr>
        <p:txBody>
          <a:bodyPr wrap="square" rtlCol="0">
            <a:normAutofit/>
          </a:bodyPr>
          <a:lstStyle/>
          <a:p>
            <a:pPr marL="0" algn="l">
              <a:buNone/>
            </a:pPr>
            <a:r>
              <a:rPr sz="1800">
                <a:solidFill>
                  <a:srgbClr val="1B334D"/>
                </a:solidFill>
                <a:effectLst/>
                <a:latin typeface="Daytona Bold"/>
              </a:rPr>
              <a:t>Computational geometry meets strategy gaming</a:t>
            </a:r>
            <a:r>
              <a:rPr>
                <a:effectLst/>
              </a:rPr>
              <a:t> </a:t>
            </a:r>
            <a:endParaRPr lang="en-IN"/>
          </a:p>
        </p:txBody>
      </p:sp>
      <p:sp>
        <p:nvSpPr>
          <p:cNvPr id="9" name="TextBox 8">
            <a:extLst>
              <a:ext uri="{FF2B5EF4-FFF2-40B4-BE49-F238E27FC236}">
                <a16:creationId xmlns:a16="http://schemas.microsoft.com/office/drawing/2014/main" id="{80E10725-1652-4993-B1D0-618849903CE5}"/>
              </a:ext>
            </a:extLst>
          </p:cNvPr>
          <p:cNvSpPr txBox="1"/>
          <p:nvPr/>
        </p:nvSpPr>
        <p:spPr>
          <a:xfrm>
            <a:off x="619125" y="5623321"/>
            <a:ext cx="4391025" cy="479821"/>
          </a:xfrm>
          <a:prstGeom prst="rect">
            <a:avLst/>
          </a:prstGeom>
          <a:noFill/>
        </p:spPr>
        <p:txBody>
          <a:bodyPr wrap="square" rtlCol="0">
            <a:normAutofit/>
          </a:bodyPr>
          <a:lstStyle/>
          <a:p>
            <a:pPr marL="0" algn="l">
              <a:buNone/>
            </a:pPr>
            <a:r>
              <a:rPr sz="1350">
                <a:solidFill>
                  <a:srgbClr val="1B334D"/>
                </a:solidFill>
                <a:effectLst/>
                <a:latin typeface="Daytona Regular"/>
              </a:rPr>
              <a:t>Tech stack: React or Vue · Node.js or Python Flask · Real-time web</a:t>
            </a:r>
            <a:r>
              <a:rPr>
                <a:effectLst/>
              </a:rPr>
              <a:t> </a:t>
            </a:r>
            <a:endParaRPr lang="en-IN"/>
          </a:p>
        </p:txBody>
      </p:sp>
      <p:sp>
        <p:nvSpPr>
          <p:cNvPr id="10" name="TextBox 9">
            <a:extLst>
              <a:ext uri="{FF2B5EF4-FFF2-40B4-BE49-F238E27FC236}">
                <a16:creationId xmlns:a16="http://schemas.microsoft.com/office/drawing/2014/main" id="{AF90E614-DC66-499B-95F8-D3894A7A85A3}"/>
              </a:ext>
            </a:extLst>
          </p:cNvPr>
          <p:cNvSpPr txBox="1"/>
          <p:nvPr/>
        </p:nvSpPr>
        <p:spPr>
          <a:xfrm>
            <a:off x="619125" y="6217443"/>
            <a:ext cx="4391025" cy="479821"/>
          </a:xfrm>
          <a:prstGeom prst="rect">
            <a:avLst/>
          </a:prstGeom>
          <a:noFill/>
        </p:spPr>
        <p:txBody>
          <a:bodyPr wrap="square" rtlCol="0">
            <a:normAutofit/>
          </a:bodyPr>
          <a:lstStyle/>
          <a:p>
            <a:pPr marL="0" algn="l">
              <a:buNone/>
            </a:pPr>
            <a:r>
              <a:rPr sz="1350">
                <a:solidFill>
                  <a:srgbClr val="1B334D"/>
                </a:solidFill>
                <a:effectLst/>
                <a:latin typeface="Daytona Regular"/>
              </a:rPr>
              <a:t>Author: [Your Name] — Computational geometry &amp; game development</a:t>
            </a:r>
            <a:r>
              <a:rPr>
                <a:effectLst/>
              </a:rPr>
              <a:t> </a:t>
            </a:r>
            <a:endParaRPr lang="en-IN"/>
          </a:p>
        </p:txBody>
      </p:sp>
    </p:spTree>
    <p:extLst>
      <p:ext uri="{BB962C8B-B14F-4D97-AF65-F5344CB8AC3E}">
        <p14:creationId xmlns:p14="http://schemas.microsoft.com/office/powerpoint/2010/main" val="1963829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E3903BC-FA5B-4AEC-A69B-C7754D69A8D2}"/>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CMS concept image with technology icons and copyspace">
            <a:extLst>
              <a:ext uri="{FF2B5EF4-FFF2-40B4-BE49-F238E27FC236}">
                <a16:creationId xmlns:a16="http://schemas.microsoft.com/office/drawing/2014/main" id="{585E29FC-DEE0-4136-AD75-DC3C59FF7C86}"/>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29C5CCF9-D0A1-42F3-B6E5-EC844346AA35}"/>
              </a:ext>
            </a:extLst>
          </p:cNvPr>
          <p:cNvSpPr txBox="1"/>
          <p:nvPr/>
        </p:nvSpPr>
        <p:spPr>
          <a:xfrm>
            <a:off x="619125" y="581025"/>
            <a:ext cx="4391025" cy="938510"/>
          </a:xfrm>
          <a:prstGeom prst="rect">
            <a:avLst/>
          </a:prstGeom>
          <a:noFill/>
        </p:spPr>
        <p:txBody>
          <a:bodyPr wrap="square" rtlCol="0">
            <a:normAutofit/>
          </a:bodyPr>
          <a:lstStyle/>
          <a:p>
            <a:pPr marL="0" algn="l">
              <a:buNone/>
            </a:pPr>
            <a:r>
              <a:rPr>
                <a:solidFill>
                  <a:srgbClr val="1B334D"/>
                </a:solidFill>
                <a:effectLst/>
                <a:latin typeface="Daytona Bold"/>
              </a:rPr>
              <a:t>Why Voronoi for Strategy Games</a:t>
            </a:r>
            <a:r>
              <a:rPr>
                <a:effectLst/>
              </a:rPr>
              <a:t> </a:t>
            </a:r>
            <a:endParaRPr lang="en-IN"/>
          </a:p>
        </p:txBody>
      </p:sp>
      <p:sp>
        <p:nvSpPr>
          <p:cNvPr id="8" name="TextBox 7">
            <a:extLst>
              <a:ext uri="{FF2B5EF4-FFF2-40B4-BE49-F238E27FC236}">
                <a16:creationId xmlns:a16="http://schemas.microsoft.com/office/drawing/2014/main" id="{68CD4A00-2E96-491C-8588-4B86C62D30BC}"/>
              </a:ext>
            </a:extLst>
          </p:cNvPr>
          <p:cNvSpPr txBox="1"/>
          <p:nvPr/>
        </p:nvSpPr>
        <p:spPr>
          <a:xfrm>
            <a:off x="619125" y="1862435"/>
            <a:ext cx="4391025" cy="3290441"/>
          </a:xfrm>
          <a:prstGeom prst="rect">
            <a:avLst/>
          </a:prstGeom>
          <a:noFill/>
        </p:spPr>
        <p:txBody>
          <a:bodyPr wrap="square" rtlCol="0">
            <a:normAutofit/>
          </a:bodyPr>
          <a:lstStyle/>
          <a:p>
            <a:pPr marL="0" algn="l">
              <a:buNone/>
            </a:pPr>
            <a:r>
              <a:rPr sz="1350" b="1">
                <a:solidFill>
                  <a:srgbClr val="1B334D"/>
                </a:solidFill>
                <a:effectLst/>
                <a:latin typeface="Daytona Bold"/>
              </a:rPr>
              <a:t>Intuitive Territory Control</a:t>
            </a:r>
            <a:r>
              <a:rPr>
                <a:effectLst/>
              </a:rPr>
              <a:t> </a:t>
            </a:r>
          </a:p>
          <a:p>
            <a:pPr marL="0" algn="l">
              <a:spcBef>
                <a:spcPts val="750"/>
              </a:spcBef>
              <a:buNone/>
            </a:pPr>
            <a:r>
              <a:rPr sz="1350">
                <a:solidFill>
                  <a:srgbClr val="1B334D"/>
                </a:solidFill>
                <a:effectLst/>
                <a:latin typeface="Daytona Regular"/>
              </a:rPr>
              <a:t>Voronoi partitions map naturally to control zones, making spatial dominance clear and learnable for players.</a:t>
            </a:r>
            <a:r>
              <a:rPr>
                <a:effectLst/>
              </a:rPr>
              <a:t> </a:t>
            </a:r>
          </a:p>
          <a:p>
            <a:pPr marL="0" algn="l">
              <a:spcBef>
                <a:spcPts val="1200"/>
              </a:spcBef>
              <a:buNone/>
            </a:pPr>
            <a:r>
              <a:rPr sz="1350" b="1">
                <a:solidFill>
                  <a:srgbClr val="1B334D"/>
                </a:solidFill>
                <a:effectLst/>
                <a:latin typeface="Daytona Bold"/>
              </a:rPr>
              <a:t>Engagement &amp; Decision Depth</a:t>
            </a:r>
            <a:r>
              <a:rPr>
                <a:effectLst/>
              </a:rPr>
              <a:t> </a:t>
            </a:r>
          </a:p>
          <a:p>
            <a:pPr marL="0" algn="l">
              <a:spcBef>
                <a:spcPts val="750"/>
              </a:spcBef>
              <a:buNone/>
            </a:pPr>
            <a:r>
              <a:rPr sz="1350">
                <a:solidFill>
                  <a:srgbClr val="1B334D"/>
                </a:solidFill>
                <a:effectLst/>
                <a:latin typeface="Daytona Regular"/>
              </a:rPr>
              <a:t>Computational geometry introduces fresh spatial challenges, increasing strategy variety and replay value.</a:t>
            </a:r>
            <a:r>
              <a:rPr>
                <a:effectLst/>
              </a:rPr>
              <a:t> </a:t>
            </a:r>
          </a:p>
          <a:p>
            <a:pPr marL="0" algn="l">
              <a:spcBef>
                <a:spcPts val="1200"/>
              </a:spcBef>
              <a:buNone/>
            </a:pPr>
            <a:r>
              <a:rPr sz="1350" b="1">
                <a:solidFill>
                  <a:srgbClr val="1B334D"/>
                </a:solidFill>
                <a:effectLst/>
                <a:latin typeface="Daytona Bold"/>
              </a:rPr>
              <a:t>Bridging Math and Play</a:t>
            </a:r>
            <a:r>
              <a:rPr>
                <a:effectLst/>
              </a:rPr>
              <a:t> </a:t>
            </a:r>
          </a:p>
          <a:p>
            <a:pPr marL="0" algn="l">
              <a:spcBef>
                <a:spcPts val="750"/>
              </a:spcBef>
              <a:buNone/>
            </a:pPr>
            <a:r>
              <a:rPr sz="1350">
                <a:solidFill>
                  <a:srgbClr val="1B334D"/>
                </a:solidFill>
                <a:effectLst/>
                <a:latin typeface="Daytona Regular"/>
              </a:rPr>
              <a:t>Transforms theoretical constructs into accessible interactions that appeal to both enthusiasts and casual gamers.</a:t>
            </a:r>
            <a:r>
              <a:rPr>
                <a:effectLst/>
              </a:rPr>
              <a:t> </a:t>
            </a:r>
            <a:endParaRPr lang="en-IN"/>
          </a:p>
        </p:txBody>
      </p:sp>
    </p:spTree>
    <p:extLst>
      <p:ext uri="{BB962C8B-B14F-4D97-AF65-F5344CB8AC3E}">
        <p14:creationId xmlns:p14="http://schemas.microsoft.com/office/powerpoint/2010/main" val="2188208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0D9E12-0022-4FFD-8C6A-4B5078066ED2}"/>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halma game board with two people playing. aside peanuts and a glass.">
            <a:extLst>
              <a:ext uri="{FF2B5EF4-FFF2-40B4-BE49-F238E27FC236}">
                <a16:creationId xmlns:a16="http://schemas.microsoft.com/office/drawing/2014/main" id="{A814F856-451B-4478-B982-FBB15684B5DB}"/>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96164EB1-55E0-410B-8B01-652CEDEF1976}"/>
              </a:ext>
            </a:extLst>
          </p:cNvPr>
          <p:cNvSpPr txBox="1"/>
          <p:nvPr/>
        </p:nvSpPr>
        <p:spPr>
          <a:xfrm>
            <a:off x="619125" y="581025"/>
            <a:ext cx="4391025" cy="1005780"/>
          </a:xfrm>
          <a:prstGeom prst="rect">
            <a:avLst/>
          </a:prstGeom>
          <a:noFill/>
        </p:spPr>
        <p:txBody>
          <a:bodyPr wrap="square" rtlCol="0">
            <a:normAutofit/>
          </a:bodyPr>
          <a:lstStyle/>
          <a:p>
            <a:pPr marL="0" algn="l">
              <a:buNone/>
            </a:pPr>
            <a:r>
              <a:rPr sz="3600">
                <a:solidFill>
                  <a:srgbClr val="1B334D"/>
                </a:solidFill>
                <a:effectLst/>
                <a:latin typeface="Daytona Bold" panose="020B0804030500040204" pitchFamily="34" charset="0"/>
              </a:rPr>
              <a:t>What Voronoi Connect 4 Is</a:t>
            </a:r>
            <a:r>
              <a:rPr>
                <a:effectLst/>
              </a:rPr>
              <a:t> </a:t>
            </a:r>
            <a:endParaRPr lang="en-IN"/>
          </a:p>
        </p:txBody>
      </p:sp>
      <p:sp>
        <p:nvSpPr>
          <p:cNvPr id="8" name="TextBox 7">
            <a:extLst>
              <a:ext uri="{FF2B5EF4-FFF2-40B4-BE49-F238E27FC236}">
                <a16:creationId xmlns:a16="http://schemas.microsoft.com/office/drawing/2014/main" id="{B3A1757A-9E0C-45AE-9FFC-15D22112EABA}"/>
              </a:ext>
            </a:extLst>
          </p:cNvPr>
          <p:cNvSpPr txBox="1"/>
          <p:nvPr/>
        </p:nvSpPr>
        <p:spPr>
          <a:xfrm>
            <a:off x="619125" y="1929705"/>
            <a:ext cx="4391025" cy="3404889"/>
          </a:xfrm>
          <a:prstGeom prst="rect">
            <a:avLst/>
          </a:prstGeom>
          <a:noFill/>
        </p:spPr>
        <p:txBody>
          <a:bodyPr wrap="square" rtlCol="0">
            <a:normAutofit/>
          </a:bodyPr>
          <a:lstStyle/>
          <a:p>
            <a:pPr marL="0" algn="l">
              <a:buNone/>
            </a:pPr>
            <a:r>
              <a:rPr sz="1350">
                <a:solidFill>
                  <a:srgbClr val="1B334D"/>
                </a:solidFill>
                <a:effectLst/>
                <a:latin typeface="Daytona Bold" panose="020B0804030500040204" pitchFamily="34" charset="0"/>
              </a:rPr>
              <a:t>Core Concept</a:t>
            </a:r>
            <a:r>
              <a:rPr>
                <a:effectLst/>
              </a:rPr>
              <a:t> </a:t>
            </a:r>
          </a:p>
          <a:p>
            <a:pPr marL="0" algn="l">
              <a:spcBef>
                <a:spcPts val="750"/>
              </a:spcBef>
              <a:buNone/>
            </a:pPr>
            <a:r>
              <a:rPr sz="1350">
                <a:solidFill>
                  <a:srgbClr val="1B334D"/>
                </a:solidFill>
                <a:effectLst/>
                <a:latin typeface="Daytona Regular"/>
              </a:rPr>
              <a:t>Combines classic Connect 4 with Voronoi diagrams in a turn‑based, edge‑claiming strategy to control territory and complete polygons.</a:t>
            </a:r>
            <a:r>
              <a:rPr>
                <a:effectLst/>
              </a:rPr>
              <a:t> </a:t>
            </a:r>
          </a:p>
          <a:p>
            <a:pPr marL="0" algn="l">
              <a:spcBef>
                <a:spcPts val="1350"/>
              </a:spcBef>
              <a:buNone/>
            </a:pPr>
            <a:r>
              <a:rPr sz="1350">
                <a:solidFill>
                  <a:srgbClr val="1B334D"/>
                </a:solidFill>
                <a:effectLst/>
                <a:latin typeface="Daytona Bold" panose="020B0804030500040204" pitchFamily="34" charset="0"/>
              </a:rPr>
              <a:t>How You Score</a:t>
            </a:r>
            <a:r>
              <a:rPr>
                <a:effectLst/>
              </a:rPr>
              <a:t> </a:t>
            </a:r>
          </a:p>
          <a:p>
            <a:pPr marL="0" algn="l">
              <a:spcBef>
                <a:spcPts val="750"/>
              </a:spcBef>
              <a:buNone/>
            </a:pPr>
            <a:r>
              <a:rPr sz="1350">
                <a:solidFill>
                  <a:srgbClr val="1B334D"/>
                </a:solidFill>
                <a:effectLst/>
                <a:latin typeface="Daytona Regular"/>
              </a:rPr>
              <a:t>Players claim edges; points accrue via polygon completion and smart edge selection, with real‑time scoring feedback.</a:t>
            </a:r>
            <a:r>
              <a:rPr>
                <a:effectLst/>
              </a:rPr>
              <a:t> </a:t>
            </a:r>
          </a:p>
          <a:p>
            <a:pPr marL="0" algn="l">
              <a:spcBef>
                <a:spcPts val="1350"/>
              </a:spcBef>
              <a:buNone/>
            </a:pPr>
            <a:r>
              <a:rPr sz="1350">
                <a:solidFill>
                  <a:srgbClr val="1B334D"/>
                </a:solidFill>
                <a:effectLst/>
                <a:latin typeface="Daytona Bold" panose="020B0804030500040204" pitchFamily="34" charset="0"/>
              </a:rPr>
              <a:t>Why It Matters</a:t>
            </a:r>
            <a:r>
              <a:rPr>
                <a:effectLst/>
              </a:rPr>
              <a:t> </a:t>
            </a:r>
          </a:p>
          <a:p>
            <a:pPr marL="0" algn="l">
              <a:spcBef>
                <a:spcPts val="750"/>
              </a:spcBef>
              <a:buNone/>
            </a:pPr>
            <a:r>
              <a:rPr sz="1350">
                <a:solidFill>
                  <a:srgbClr val="1B334D"/>
                </a:solidFill>
                <a:effectLst/>
                <a:latin typeface="Daytona Regular"/>
              </a:rPr>
              <a:t>Enhances spatial awareness and planning, offering engaging casual and competitive modes—educational yet entertaining.</a:t>
            </a:r>
            <a:r>
              <a:rPr>
                <a:effectLst/>
              </a:rPr>
              <a:t> </a:t>
            </a:r>
            <a:endParaRPr lang="en-IN"/>
          </a:p>
        </p:txBody>
      </p:sp>
    </p:spTree>
    <p:extLst>
      <p:ext uri="{BB962C8B-B14F-4D97-AF65-F5344CB8AC3E}">
        <p14:creationId xmlns:p14="http://schemas.microsoft.com/office/powerpoint/2010/main" val="1136080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D5F1428-17C2-4C32-A738-65E0E29C0D5F}"/>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1348B9E2-E541-7A2D-AF3C-C1E01F479B61}"/>
              </a:ext>
            </a:extLst>
          </p:cNvPr>
          <p:cNvSpPr>
            <a:spLocks noGrp="1"/>
          </p:cNvSpPr>
          <p:nvPr>
            <p:ph sz="half" idx="2"/>
          </p:nvPr>
        </p:nvSpPr>
        <p:spPr>
          <a:xfrm>
            <a:off x="619125" y="581025"/>
            <a:ext cx="10972800" cy="1340941"/>
          </a:xfrm>
        </p:spPr>
        <p:txBody>
          <a:bodyPr/>
          <a:lstStyle/>
          <a:p>
            <a:pPr marL="0" indent="0" algn="l">
              <a:buNone/>
            </a:pPr>
            <a:r>
              <a:rPr sz="4800">
                <a:solidFill>
                  <a:srgbClr val="1B334D"/>
                </a:solidFill>
                <a:effectLst/>
                <a:latin typeface="Daytona Bold" panose="020B0804030500040204" pitchFamily="34" charset="0"/>
              </a:rPr>
              <a:t>Voronoi Diagram Basics: Points, Edges, Polygons</a:t>
            </a:r>
            <a:r>
              <a:rPr>
                <a:effectLst/>
              </a:rPr>
              <a:t> </a:t>
            </a:r>
            <a:endParaRPr lang="en-IN"/>
          </a:p>
        </p:txBody>
      </p:sp>
      <p:sp>
        <p:nvSpPr>
          <p:cNvPr id="6" name="TextBox 5">
            <a:extLst>
              <a:ext uri="{FF2B5EF4-FFF2-40B4-BE49-F238E27FC236}">
                <a16:creationId xmlns:a16="http://schemas.microsoft.com/office/drawing/2014/main" id="{449C5B5D-4000-40D3-AACD-25CCB9D73809}"/>
              </a:ext>
            </a:extLst>
          </p:cNvPr>
          <p:cNvSpPr txBox="1"/>
          <p:nvPr/>
        </p:nvSpPr>
        <p:spPr>
          <a:xfrm>
            <a:off x="619125" y="3447454"/>
            <a:ext cx="2571750" cy="1631305"/>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Bold" panose="020B0804030500040204" pitchFamily="34" charset="0"/>
              </a:rPr>
              <a:t>01</a:t>
            </a:r>
            <a:r>
              <a:rPr>
                <a:effectLst/>
              </a:rPr>
              <a:t> </a:t>
            </a:r>
          </a:p>
          <a:p>
            <a:pPr marL="0" algn="l">
              <a:spcAft>
                <a:spcPts val="900"/>
              </a:spcAft>
              <a:buNone/>
            </a:pPr>
            <a:r>
              <a:rPr sz="1425" b="1">
                <a:solidFill>
                  <a:srgbClr val="1B334D"/>
                </a:solidFill>
                <a:effectLst/>
                <a:latin typeface="Daytona Bold" panose="020B0804030500040204" pitchFamily="34" charset="0"/>
              </a:rPr>
              <a:t>Seed Points</a:t>
            </a:r>
            <a:r>
              <a:rPr>
                <a:effectLst/>
              </a:rPr>
              <a:t> </a:t>
            </a:r>
          </a:p>
          <a:p>
            <a:pPr marL="0" algn="l">
              <a:buNone/>
            </a:pPr>
            <a:r>
              <a:rPr sz="1425" b="0">
                <a:solidFill>
                  <a:srgbClr val="1B334D"/>
                </a:solidFill>
                <a:effectLst/>
                <a:latin typeface="Daytona Regular"/>
              </a:rPr>
              <a:t>Place points that anchor each prospective cell.</a:t>
            </a:r>
            <a:r>
              <a:rPr>
                <a:effectLst/>
              </a:rPr>
              <a:t> </a:t>
            </a:r>
            <a:endParaRPr lang="en-IN"/>
          </a:p>
        </p:txBody>
      </p:sp>
      <p:sp>
        <p:nvSpPr>
          <p:cNvPr id="7" name="TextBox 6">
            <a:extLst>
              <a:ext uri="{FF2B5EF4-FFF2-40B4-BE49-F238E27FC236}">
                <a16:creationId xmlns:a16="http://schemas.microsoft.com/office/drawing/2014/main" id="{B914899A-CF83-4BA3-A4E1-D7C7F9FA7F7A}"/>
              </a:ext>
            </a:extLst>
          </p:cNvPr>
          <p:cNvSpPr txBox="1"/>
          <p:nvPr/>
        </p:nvSpPr>
        <p:spPr>
          <a:xfrm>
            <a:off x="3419475" y="3447454"/>
            <a:ext cx="2571750" cy="1875532"/>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Bold" panose="020B0804030500040204" pitchFamily="34" charset="0"/>
              </a:rPr>
              <a:t>02</a:t>
            </a:r>
            <a:r>
              <a:rPr>
                <a:effectLst/>
              </a:rPr>
              <a:t> </a:t>
            </a:r>
          </a:p>
          <a:p>
            <a:pPr marL="0" algn="l">
              <a:spcAft>
                <a:spcPts val="900"/>
              </a:spcAft>
              <a:buNone/>
            </a:pPr>
            <a:r>
              <a:rPr sz="1425" b="1">
                <a:solidFill>
                  <a:srgbClr val="1B334D"/>
                </a:solidFill>
                <a:effectLst/>
                <a:latin typeface="Daytona Bold" panose="020B0804030500040204" pitchFamily="34" charset="0"/>
              </a:rPr>
              <a:t>Equidistant Edges</a:t>
            </a:r>
            <a:r>
              <a:rPr>
                <a:effectLst/>
              </a:rPr>
              <a:t> </a:t>
            </a:r>
          </a:p>
          <a:p>
            <a:pPr marL="0" algn="l">
              <a:buNone/>
            </a:pPr>
            <a:r>
              <a:rPr sz="1425" b="0">
                <a:solidFill>
                  <a:srgbClr val="1B334D"/>
                </a:solidFill>
                <a:effectLst/>
                <a:latin typeface="Daytona Regular"/>
              </a:rPr>
              <a:t>Draw boundaries equidistant from neighboring points.</a:t>
            </a:r>
            <a:r>
              <a:rPr>
                <a:effectLst/>
              </a:rPr>
              <a:t> </a:t>
            </a:r>
            <a:endParaRPr lang="en-IN"/>
          </a:p>
        </p:txBody>
      </p:sp>
      <p:sp>
        <p:nvSpPr>
          <p:cNvPr id="8" name="TextBox 7">
            <a:extLst>
              <a:ext uri="{FF2B5EF4-FFF2-40B4-BE49-F238E27FC236}">
                <a16:creationId xmlns:a16="http://schemas.microsoft.com/office/drawing/2014/main" id="{7FC25ED6-9FAB-4E84-BE75-8122F9215456}"/>
              </a:ext>
            </a:extLst>
          </p:cNvPr>
          <p:cNvSpPr txBox="1"/>
          <p:nvPr/>
        </p:nvSpPr>
        <p:spPr>
          <a:xfrm>
            <a:off x="6219825" y="3447454"/>
            <a:ext cx="2571750" cy="1875532"/>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Bold" panose="020B0804030500040204" pitchFamily="34" charset="0"/>
              </a:rPr>
              <a:t>03</a:t>
            </a:r>
            <a:r>
              <a:rPr>
                <a:effectLst/>
              </a:rPr>
              <a:t> </a:t>
            </a:r>
          </a:p>
          <a:p>
            <a:pPr marL="0" algn="l">
              <a:spcAft>
                <a:spcPts val="900"/>
              </a:spcAft>
              <a:buNone/>
            </a:pPr>
            <a:r>
              <a:rPr sz="1425" b="1">
                <a:solidFill>
                  <a:srgbClr val="1B334D"/>
                </a:solidFill>
                <a:effectLst/>
                <a:latin typeface="Daytona Bold" panose="020B0804030500040204" pitchFamily="34" charset="0"/>
              </a:rPr>
              <a:t>Polygonal Cells</a:t>
            </a:r>
            <a:r>
              <a:rPr>
                <a:effectLst/>
              </a:rPr>
              <a:t> </a:t>
            </a:r>
          </a:p>
          <a:p>
            <a:pPr marL="0" algn="l">
              <a:buNone/>
            </a:pPr>
            <a:r>
              <a:rPr sz="1425" b="0">
                <a:solidFill>
                  <a:srgbClr val="1B334D"/>
                </a:solidFill>
                <a:effectLst/>
                <a:latin typeface="Daytona Regular"/>
              </a:rPr>
              <a:t>Edges enclose polygons that tessellate without overlap.</a:t>
            </a:r>
            <a:r>
              <a:rPr>
                <a:effectLst/>
              </a:rPr>
              <a:t> </a:t>
            </a:r>
            <a:endParaRPr lang="en-IN"/>
          </a:p>
        </p:txBody>
      </p:sp>
      <p:sp>
        <p:nvSpPr>
          <p:cNvPr id="9" name="TextBox 8">
            <a:extLst>
              <a:ext uri="{FF2B5EF4-FFF2-40B4-BE49-F238E27FC236}">
                <a16:creationId xmlns:a16="http://schemas.microsoft.com/office/drawing/2014/main" id="{82A27A8A-5ED8-42E4-8AE0-9C0AA930E5FB}"/>
              </a:ext>
            </a:extLst>
          </p:cNvPr>
          <p:cNvSpPr txBox="1"/>
          <p:nvPr/>
        </p:nvSpPr>
        <p:spPr>
          <a:xfrm>
            <a:off x="9020175" y="3447454"/>
            <a:ext cx="2571750" cy="1875532"/>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Bold" panose="020B0804030500040204" pitchFamily="34" charset="0"/>
              </a:rPr>
              <a:t>04</a:t>
            </a:r>
            <a:r>
              <a:rPr>
                <a:effectLst/>
              </a:rPr>
              <a:t> </a:t>
            </a:r>
          </a:p>
          <a:p>
            <a:pPr marL="0" algn="l">
              <a:spcAft>
                <a:spcPts val="900"/>
              </a:spcAft>
              <a:buNone/>
            </a:pPr>
            <a:r>
              <a:rPr sz="1425" b="1">
                <a:solidFill>
                  <a:srgbClr val="1B334D"/>
                </a:solidFill>
                <a:effectLst/>
                <a:latin typeface="Daytona Bold" panose="020B0804030500040204" pitchFamily="34" charset="0"/>
              </a:rPr>
              <a:t>Strategic Relevance</a:t>
            </a:r>
            <a:r>
              <a:rPr>
                <a:effectLst/>
              </a:rPr>
              <a:t> </a:t>
            </a:r>
          </a:p>
          <a:p>
            <a:pPr marL="0" algn="l">
              <a:buNone/>
            </a:pPr>
            <a:r>
              <a:rPr sz="1425" b="0">
                <a:solidFill>
                  <a:srgbClr val="1B334D"/>
                </a:solidFill>
                <a:effectLst/>
                <a:latin typeface="Daytona Regular"/>
              </a:rPr>
              <a:t>Cells model control zones for resource and move advantage.</a:t>
            </a:r>
            <a:r>
              <a:rPr>
                <a:effectLst/>
              </a:rPr>
              <a:t> </a:t>
            </a:r>
            <a:endParaRPr lang="en-IN"/>
          </a:p>
        </p:txBody>
      </p:sp>
    </p:spTree>
    <p:extLst>
      <p:ext uri="{BB962C8B-B14F-4D97-AF65-F5344CB8AC3E}">
        <p14:creationId xmlns:p14="http://schemas.microsoft.com/office/powerpoint/2010/main" val="2233619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6D1C00-F339-4061-B368-ACEE2E23AEE6}"/>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31441885-1507-4FA6-AFD1-9968BDF46A0E}"/>
              </a:ext>
            </a:extLst>
          </p:cNvPr>
          <p:cNvSpPr>
            <a:spLocks noGrp="1"/>
          </p:cNvSpPr>
          <p:nvPr>
            <p:ph sz="half" idx="2"/>
          </p:nvPr>
        </p:nvSpPr>
        <p:spPr>
          <a:xfrm>
            <a:off x="619125" y="581025"/>
            <a:ext cx="10972800" cy="1340941"/>
          </a:xfrm>
        </p:spPr>
        <p:txBody>
          <a:bodyPr/>
          <a:lstStyle/>
          <a:p>
            <a:pPr marL="0" indent="0" algn="l">
              <a:buNone/>
            </a:pPr>
            <a:r>
              <a:rPr sz="4800">
                <a:solidFill>
                  <a:srgbClr val="1B334D"/>
                </a:solidFill>
                <a:effectLst/>
                <a:latin typeface="Daytona Bold" panose="020B0804030500040204" pitchFamily="34" charset="0"/>
              </a:rPr>
              <a:t>Core Game Mechanics — Turn-Based Edge Claiming</a:t>
            </a:r>
            <a:r>
              <a:rPr>
                <a:effectLst/>
              </a:rPr>
              <a:t> </a:t>
            </a:r>
            <a:endParaRPr lang="en-IN"/>
          </a:p>
        </p:txBody>
      </p:sp>
      <p:sp>
        <p:nvSpPr>
          <p:cNvPr id="6" name="TextBox 5">
            <a:extLst>
              <a:ext uri="{FF2B5EF4-FFF2-40B4-BE49-F238E27FC236}">
                <a16:creationId xmlns:a16="http://schemas.microsoft.com/office/drawing/2014/main" id="{D41CA427-B0D5-45E6-B762-FB16B6B93F81}"/>
              </a:ext>
            </a:extLst>
          </p:cNvPr>
          <p:cNvSpPr txBox="1"/>
          <p:nvPr/>
        </p:nvSpPr>
        <p:spPr>
          <a:xfrm>
            <a:off x="619125" y="3242369"/>
            <a:ext cx="2571750" cy="2068562"/>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Bold" panose="020B0804030500040204" pitchFamily="34" charset="0"/>
              </a:rPr>
              <a:t>01</a:t>
            </a:r>
            <a:r>
              <a:rPr>
                <a:effectLst/>
              </a:rPr>
              <a:t> </a:t>
            </a:r>
          </a:p>
          <a:p>
            <a:pPr marL="0" algn="l">
              <a:spcAft>
                <a:spcPts val="900"/>
              </a:spcAft>
              <a:buNone/>
            </a:pPr>
            <a:r>
              <a:rPr sz="1425" b="1">
                <a:solidFill>
                  <a:srgbClr val="1B334D"/>
                </a:solidFill>
                <a:effectLst/>
                <a:latin typeface="Daytona Bold" panose="020B0804030500040204" pitchFamily="34" charset="0"/>
              </a:rPr>
              <a:t>Turn Order</a:t>
            </a:r>
            <a:r>
              <a:rPr>
                <a:effectLst/>
              </a:rPr>
              <a:t> </a:t>
            </a:r>
          </a:p>
          <a:p>
            <a:pPr marL="0" algn="l">
              <a:buNone/>
            </a:pPr>
            <a:r>
              <a:rPr sz="1350" b="0">
                <a:solidFill>
                  <a:srgbClr val="1B334D"/>
                </a:solidFill>
                <a:effectLst/>
                <a:latin typeface="Daytona Regular"/>
              </a:rPr>
              <a:t>Players alternate selecting unclaimed edges, pacing decisions and setting tempo.</a:t>
            </a:r>
            <a:r>
              <a:rPr>
                <a:effectLst/>
              </a:rPr>
              <a:t> </a:t>
            </a:r>
            <a:endParaRPr lang="en-IN"/>
          </a:p>
        </p:txBody>
      </p:sp>
      <p:sp>
        <p:nvSpPr>
          <p:cNvPr id="7" name="TextBox 6">
            <a:extLst>
              <a:ext uri="{FF2B5EF4-FFF2-40B4-BE49-F238E27FC236}">
                <a16:creationId xmlns:a16="http://schemas.microsoft.com/office/drawing/2014/main" id="{8E33A586-94D5-4AFF-A1C5-464532A1BB33}"/>
              </a:ext>
            </a:extLst>
          </p:cNvPr>
          <p:cNvSpPr txBox="1"/>
          <p:nvPr/>
        </p:nvSpPr>
        <p:spPr>
          <a:xfrm>
            <a:off x="3419475" y="3242369"/>
            <a:ext cx="2571750" cy="2068562"/>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Bold" panose="020B0804030500040204" pitchFamily="34" charset="0"/>
              </a:rPr>
              <a:t>02</a:t>
            </a:r>
            <a:r>
              <a:rPr>
                <a:effectLst/>
              </a:rPr>
              <a:t> </a:t>
            </a:r>
          </a:p>
          <a:p>
            <a:pPr marL="0" algn="l">
              <a:spcAft>
                <a:spcPts val="900"/>
              </a:spcAft>
              <a:buNone/>
            </a:pPr>
            <a:r>
              <a:rPr sz="1425" b="1">
                <a:solidFill>
                  <a:srgbClr val="1B334D"/>
                </a:solidFill>
                <a:effectLst/>
                <a:latin typeface="Daytona Bold" panose="020B0804030500040204" pitchFamily="34" charset="0"/>
              </a:rPr>
              <a:t>Edge Claiming</a:t>
            </a:r>
            <a:r>
              <a:rPr>
                <a:effectLst/>
              </a:rPr>
              <a:t> </a:t>
            </a:r>
          </a:p>
          <a:p>
            <a:pPr marL="0" algn="l">
              <a:buNone/>
            </a:pPr>
            <a:r>
              <a:rPr sz="1350" b="0">
                <a:solidFill>
                  <a:srgbClr val="1B334D"/>
                </a:solidFill>
                <a:effectLst/>
                <a:latin typeface="Daytona Regular"/>
              </a:rPr>
              <a:t>Each claim restricts opponent options and contributes to polygon control.</a:t>
            </a:r>
            <a:r>
              <a:rPr>
                <a:effectLst/>
              </a:rPr>
              <a:t> </a:t>
            </a:r>
            <a:endParaRPr lang="en-IN"/>
          </a:p>
        </p:txBody>
      </p:sp>
      <p:sp>
        <p:nvSpPr>
          <p:cNvPr id="8" name="TextBox 7">
            <a:extLst>
              <a:ext uri="{FF2B5EF4-FFF2-40B4-BE49-F238E27FC236}">
                <a16:creationId xmlns:a16="http://schemas.microsoft.com/office/drawing/2014/main" id="{AA2FE3BF-C8B2-418C-8336-8517809A04E4}"/>
              </a:ext>
            </a:extLst>
          </p:cNvPr>
          <p:cNvSpPr txBox="1"/>
          <p:nvPr/>
        </p:nvSpPr>
        <p:spPr>
          <a:xfrm>
            <a:off x="6219825" y="3242369"/>
            <a:ext cx="2571750" cy="1837134"/>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Bold" panose="020B0804030500040204" pitchFamily="34" charset="0"/>
              </a:rPr>
              <a:t>03</a:t>
            </a:r>
            <a:r>
              <a:rPr>
                <a:effectLst/>
              </a:rPr>
              <a:t> </a:t>
            </a:r>
          </a:p>
          <a:p>
            <a:pPr marL="0" algn="l">
              <a:spcAft>
                <a:spcPts val="900"/>
              </a:spcAft>
              <a:buNone/>
            </a:pPr>
            <a:r>
              <a:rPr sz="1425" b="1">
                <a:solidFill>
                  <a:srgbClr val="1B334D"/>
                </a:solidFill>
                <a:effectLst/>
                <a:latin typeface="Daytona Bold" panose="020B0804030500040204" pitchFamily="34" charset="0"/>
              </a:rPr>
              <a:t>Board State Evolves</a:t>
            </a:r>
            <a:r>
              <a:rPr>
                <a:effectLst/>
              </a:rPr>
              <a:t> </a:t>
            </a:r>
          </a:p>
          <a:p>
            <a:pPr marL="0" algn="l">
              <a:buNone/>
            </a:pPr>
            <a:r>
              <a:rPr sz="1350" b="0">
                <a:solidFill>
                  <a:srgbClr val="1B334D"/>
                </a:solidFill>
                <a:effectLst/>
                <a:latin typeface="Daytona Regular"/>
              </a:rPr>
              <a:t>Claims reshape the graph, revealing tactics to surround and secure areas.</a:t>
            </a:r>
            <a:r>
              <a:rPr>
                <a:effectLst/>
              </a:rPr>
              <a:t> </a:t>
            </a:r>
            <a:endParaRPr lang="en-IN"/>
          </a:p>
        </p:txBody>
      </p:sp>
      <p:sp>
        <p:nvSpPr>
          <p:cNvPr id="9" name="TextBox 8">
            <a:extLst>
              <a:ext uri="{FF2B5EF4-FFF2-40B4-BE49-F238E27FC236}">
                <a16:creationId xmlns:a16="http://schemas.microsoft.com/office/drawing/2014/main" id="{3C83B7C9-8DD2-48A9-9818-742D8673E953}"/>
              </a:ext>
            </a:extLst>
          </p:cNvPr>
          <p:cNvSpPr txBox="1"/>
          <p:nvPr/>
        </p:nvSpPr>
        <p:spPr>
          <a:xfrm>
            <a:off x="9020175" y="3242369"/>
            <a:ext cx="2571750" cy="2285702"/>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Bold" panose="020B0804030500040204" pitchFamily="34" charset="0"/>
              </a:rPr>
              <a:t>04</a:t>
            </a:r>
            <a:r>
              <a:rPr>
                <a:effectLst/>
              </a:rPr>
              <a:t> </a:t>
            </a:r>
          </a:p>
          <a:p>
            <a:pPr marL="0" algn="l">
              <a:spcAft>
                <a:spcPts val="900"/>
              </a:spcAft>
              <a:buNone/>
            </a:pPr>
            <a:r>
              <a:rPr sz="1425" b="1">
                <a:solidFill>
                  <a:srgbClr val="1B334D"/>
                </a:solidFill>
                <a:effectLst/>
                <a:latin typeface="Daytona Bold" panose="020B0804030500040204" pitchFamily="34" charset="0"/>
              </a:rPr>
              <a:t>Strategic Depth &amp; Fairness</a:t>
            </a:r>
            <a:r>
              <a:rPr>
                <a:effectLst/>
              </a:rPr>
              <a:t> </a:t>
            </a:r>
          </a:p>
          <a:p>
            <a:pPr marL="0" algn="l">
              <a:buNone/>
            </a:pPr>
            <a:r>
              <a:rPr sz="1350" b="0">
                <a:solidFill>
                  <a:srgbClr val="1B334D"/>
                </a:solidFill>
                <a:effectLst/>
                <a:latin typeface="Daytona Regular"/>
              </a:rPr>
              <a:t>Turn-based flow supports planning, balanced interaction, and competitive tension.</a:t>
            </a:r>
            <a:r>
              <a:rPr>
                <a:effectLst/>
              </a:rPr>
              <a:t> </a:t>
            </a:r>
            <a:endParaRPr lang="en-IN"/>
          </a:p>
        </p:txBody>
      </p:sp>
    </p:spTree>
    <p:extLst>
      <p:ext uri="{BB962C8B-B14F-4D97-AF65-F5344CB8AC3E}">
        <p14:creationId xmlns:p14="http://schemas.microsoft.com/office/powerpoint/2010/main" val="3659055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EB620EF-FFAD-4A3E-9660-860FD710B4E3}"/>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5678237A-4611-C997-2CF4-D9362A412465}"/>
              </a:ext>
            </a:extLst>
          </p:cNvPr>
          <p:cNvSpPr>
            <a:spLocks noGrp="1"/>
          </p:cNvSpPr>
          <p:nvPr>
            <p:ph sz="half" idx="2"/>
          </p:nvPr>
        </p:nvSpPr>
        <p:spPr>
          <a:xfrm>
            <a:off x="1343025" y="2266950"/>
            <a:ext cx="9525000" cy="1905000"/>
          </a:xfrm>
        </p:spPr>
        <p:txBody>
          <a:bodyPr/>
          <a:lstStyle/>
          <a:p>
            <a:pPr marL="0" indent="0" algn="l">
              <a:buNone/>
            </a:pPr>
            <a:r>
              <a:rPr sz="15000" b="1">
                <a:solidFill>
                  <a:srgbClr val="01615A"/>
                </a:solidFill>
                <a:effectLst/>
                <a:latin typeface="Daytona Bold" panose="020B0804030500040204" pitchFamily="34" charset="0"/>
              </a:rPr>
              <a:t>+50</a:t>
            </a:r>
            <a:r>
              <a:rPr>
                <a:effectLst/>
              </a:rPr>
              <a:t> </a:t>
            </a:r>
            <a:endParaRPr lang="en-IN"/>
          </a:p>
        </p:txBody>
      </p:sp>
      <p:sp>
        <p:nvSpPr>
          <p:cNvPr id="6" name="TextBox 5">
            <a:extLst>
              <a:ext uri="{FF2B5EF4-FFF2-40B4-BE49-F238E27FC236}">
                <a16:creationId xmlns:a16="http://schemas.microsoft.com/office/drawing/2014/main" id="{01FF4E05-EF25-40FA-B42A-2CD5320349FA}"/>
              </a:ext>
            </a:extLst>
          </p:cNvPr>
          <p:cNvSpPr txBox="1"/>
          <p:nvPr/>
        </p:nvSpPr>
        <p:spPr>
          <a:xfrm>
            <a:off x="1343025" y="4591050"/>
            <a:ext cx="9525000" cy="651271"/>
          </a:xfrm>
          <a:prstGeom prst="rect">
            <a:avLst/>
          </a:prstGeom>
          <a:noFill/>
        </p:spPr>
        <p:txBody>
          <a:bodyPr wrap="square" rtlCol="0">
            <a:normAutofit/>
          </a:bodyPr>
          <a:lstStyle/>
          <a:p>
            <a:pPr marL="0" algn="l">
              <a:buNone/>
            </a:pPr>
            <a:r>
              <a:rPr sz="1800">
                <a:solidFill>
                  <a:srgbClr val="1B334D"/>
                </a:solidFill>
                <a:effectLst/>
                <a:latin typeface="Daytona Bold" panose="020B0804030500040204" pitchFamily="34" charset="0"/>
              </a:rPr>
              <a:t>Bonus for completing a polygon</a:t>
            </a:r>
            <a:r>
              <a:rPr>
                <a:effectLst/>
              </a:rPr>
              <a:t> </a:t>
            </a:r>
          </a:p>
          <a:p>
            <a:pPr marL="0" algn="l">
              <a:spcBef>
                <a:spcPts val="900"/>
              </a:spcBef>
              <a:buNone/>
            </a:pPr>
            <a:r>
              <a:rPr sz="1350">
                <a:solidFill>
                  <a:srgbClr val="1B334D"/>
                </a:solidFill>
                <a:effectLst/>
                <a:latin typeface="Daytona Regular"/>
              </a:rPr>
              <a:t>This substantial bonus drives higher win rates and balances short-term edge claims with long-term control.</a:t>
            </a:r>
            <a:r>
              <a:rPr>
                <a:effectLst/>
              </a:rPr>
              <a:t> </a:t>
            </a:r>
            <a:endParaRPr lang="en-IN"/>
          </a:p>
        </p:txBody>
      </p:sp>
    </p:spTree>
    <p:extLst>
      <p:ext uri="{BB962C8B-B14F-4D97-AF65-F5344CB8AC3E}">
        <p14:creationId xmlns:p14="http://schemas.microsoft.com/office/powerpoint/2010/main" val="611994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EA6C6DB-5640-451E-930F-3FC93F56C4A7}"/>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5A17084C-859E-D767-6566-8FB499F56A2C}"/>
              </a:ext>
            </a:extLst>
          </p:cNvPr>
          <p:cNvSpPr>
            <a:spLocks noGrp="1"/>
          </p:cNvSpPr>
          <p:nvPr>
            <p:ph sz="half" idx="2"/>
          </p:nvPr>
        </p:nvSpPr>
        <p:spPr>
          <a:xfrm>
            <a:off x="619125" y="581025"/>
            <a:ext cx="10972800" cy="1340941"/>
          </a:xfrm>
        </p:spPr>
        <p:txBody>
          <a:bodyPr/>
          <a:lstStyle/>
          <a:p>
            <a:pPr marL="0" indent="0" algn="l">
              <a:buNone/>
            </a:pPr>
            <a:r>
              <a:rPr sz="4800">
                <a:solidFill>
                  <a:srgbClr val="1B334D"/>
                </a:solidFill>
                <a:effectLst/>
                <a:latin typeface="Daytona" panose="020B0604030500040204" pitchFamily="34" charset="0"/>
              </a:rPr>
              <a:t>Gameplay Flow – Step-by-Step Gameplay Sequence</a:t>
            </a:r>
            <a:r>
              <a:rPr>
                <a:effectLst/>
              </a:rPr>
              <a:t> </a:t>
            </a:r>
            <a:endParaRPr lang="en-IN"/>
          </a:p>
        </p:txBody>
      </p:sp>
      <p:sp>
        <p:nvSpPr>
          <p:cNvPr id="6" name="TextBox 5">
            <a:extLst>
              <a:ext uri="{FF2B5EF4-FFF2-40B4-BE49-F238E27FC236}">
                <a16:creationId xmlns:a16="http://schemas.microsoft.com/office/drawing/2014/main" id="{495982FE-8E01-47E6-90A5-D5B7D9AFFACB}"/>
              </a:ext>
            </a:extLst>
          </p:cNvPr>
          <p:cNvSpPr txBox="1"/>
          <p:nvPr/>
        </p:nvSpPr>
        <p:spPr>
          <a:xfrm>
            <a:off x="619125" y="3447454"/>
            <a:ext cx="2571750" cy="1631305"/>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panose="020B0604030500040204" pitchFamily="34" charset="0"/>
              </a:rPr>
              <a:t>01</a:t>
            </a:r>
            <a:r>
              <a:rPr>
                <a:effectLst/>
              </a:rPr>
              <a:t> </a:t>
            </a:r>
          </a:p>
          <a:p>
            <a:pPr marL="0" algn="l">
              <a:spcAft>
                <a:spcPts val="900"/>
              </a:spcAft>
              <a:buNone/>
            </a:pPr>
            <a:r>
              <a:rPr sz="1425" b="1">
                <a:solidFill>
                  <a:srgbClr val="1B334D"/>
                </a:solidFill>
                <a:effectLst/>
                <a:latin typeface="Daytona" panose="020B0604030500040204" pitchFamily="34" charset="0"/>
              </a:rPr>
              <a:t>Empty Voronoi Board</a:t>
            </a:r>
            <a:r>
              <a:rPr>
                <a:effectLst/>
              </a:rPr>
              <a:t> </a:t>
            </a:r>
          </a:p>
          <a:p>
            <a:pPr marL="0" algn="l">
              <a:buNone/>
            </a:pPr>
            <a:r>
              <a:rPr sz="1425" b="0">
                <a:solidFill>
                  <a:srgbClr val="1B334D"/>
                </a:solidFill>
                <a:effectLst/>
                <a:latin typeface="Daytona" panose="020B0604030500040204" pitchFamily="34" charset="0"/>
              </a:rPr>
              <a:t>Start with unclaimed edges; initialize turn order.</a:t>
            </a:r>
            <a:r>
              <a:rPr>
                <a:effectLst/>
              </a:rPr>
              <a:t> </a:t>
            </a:r>
            <a:endParaRPr lang="en-IN"/>
          </a:p>
        </p:txBody>
      </p:sp>
      <p:sp>
        <p:nvSpPr>
          <p:cNvPr id="7" name="TextBox 6">
            <a:extLst>
              <a:ext uri="{FF2B5EF4-FFF2-40B4-BE49-F238E27FC236}">
                <a16:creationId xmlns:a16="http://schemas.microsoft.com/office/drawing/2014/main" id="{79A71010-EF94-4506-B57A-94610D0850A8}"/>
              </a:ext>
            </a:extLst>
          </p:cNvPr>
          <p:cNvSpPr txBox="1"/>
          <p:nvPr/>
        </p:nvSpPr>
        <p:spPr>
          <a:xfrm>
            <a:off x="3419475" y="3447454"/>
            <a:ext cx="2571750" cy="1631305"/>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panose="020B0604030500040204" pitchFamily="34" charset="0"/>
              </a:rPr>
              <a:t>02</a:t>
            </a:r>
            <a:r>
              <a:rPr>
                <a:effectLst/>
              </a:rPr>
              <a:t> </a:t>
            </a:r>
          </a:p>
          <a:p>
            <a:pPr marL="0" algn="l">
              <a:spcAft>
                <a:spcPts val="900"/>
              </a:spcAft>
              <a:buNone/>
            </a:pPr>
            <a:r>
              <a:rPr sz="1425" b="1">
                <a:solidFill>
                  <a:srgbClr val="1B334D"/>
                </a:solidFill>
                <a:effectLst/>
                <a:latin typeface="Daytona" panose="020B0604030500040204" pitchFamily="34" charset="0"/>
              </a:rPr>
              <a:t>Player Selects an Edge</a:t>
            </a:r>
            <a:r>
              <a:rPr>
                <a:effectLst/>
              </a:rPr>
              <a:t> </a:t>
            </a:r>
          </a:p>
          <a:p>
            <a:pPr marL="0" algn="l">
              <a:buNone/>
            </a:pPr>
            <a:r>
              <a:rPr sz="1425" b="0">
                <a:solidFill>
                  <a:srgbClr val="1B334D"/>
                </a:solidFill>
                <a:effectLst/>
                <a:latin typeface="Daytona" panose="020B0604030500040204" pitchFamily="34" charset="0"/>
              </a:rPr>
              <a:t>Claim an edge under timer pressure to keep pace.</a:t>
            </a:r>
            <a:r>
              <a:rPr>
                <a:effectLst/>
              </a:rPr>
              <a:t> </a:t>
            </a:r>
            <a:endParaRPr lang="en-IN"/>
          </a:p>
        </p:txBody>
      </p:sp>
      <p:sp>
        <p:nvSpPr>
          <p:cNvPr id="8" name="TextBox 7">
            <a:extLst>
              <a:ext uri="{FF2B5EF4-FFF2-40B4-BE49-F238E27FC236}">
                <a16:creationId xmlns:a16="http://schemas.microsoft.com/office/drawing/2014/main" id="{21534928-47B1-4F1C-A265-CDE927550803}"/>
              </a:ext>
            </a:extLst>
          </p:cNvPr>
          <p:cNvSpPr txBox="1"/>
          <p:nvPr/>
        </p:nvSpPr>
        <p:spPr>
          <a:xfrm>
            <a:off x="6219825" y="3447454"/>
            <a:ext cx="2571750" cy="1875532"/>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panose="020B0604030500040204" pitchFamily="34" charset="0"/>
              </a:rPr>
              <a:t>03</a:t>
            </a:r>
            <a:r>
              <a:rPr>
                <a:effectLst/>
              </a:rPr>
              <a:t> </a:t>
            </a:r>
          </a:p>
          <a:p>
            <a:pPr marL="0" algn="l">
              <a:spcAft>
                <a:spcPts val="900"/>
              </a:spcAft>
              <a:buNone/>
            </a:pPr>
            <a:r>
              <a:rPr sz="1425" b="1">
                <a:solidFill>
                  <a:srgbClr val="1B334D"/>
                </a:solidFill>
                <a:effectLst/>
                <a:latin typeface="Daytona" panose="020B0604030500040204" pitchFamily="34" charset="0"/>
              </a:rPr>
              <a:t>Scores &amp; Polygons Update</a:t>
            </a:r>
            <a:r>
              <a:rPr>
                <a:effectLst/>
              </a:rPr>
              <a:t> </a:t>
            </a:r>
          </a:p>
          <a:p>
            <a:pPr marL="0" algn="l">
              <a:buNone/>
            </a:pPr>
            <a:r>
              <a:rPr sz="1425" b="0">
                <a:solidFill>
                  <a:srgbClr val="1B334D"/>
                </a:solidFill>
                <a:effectLst/>
                <a:latin typeface="Daytona" panose="020B0604030500040204" pitchFamily="34" charset="0"/>
              </a:rPr>
              <a:t>Recalculate totals and register any completed polygons.</a:t>
            </a:r>
            <a:r>
              <a:rPr>
                <a:effectLst/>
              </a:rPr>
              <a:t> </a:t>
            </a:r>
            <a:endParaRPr lang="en-IN"/>
          </a:p>
        </p:txBody>
      </p:sp>
      <p:sp>
        <p:nvSpPr>
          <p:cNvPr id="9" name="TextBox 8">
            <a:extLst>
              <a:ext uri="{FF2B5EF4-FFF2-40B4-BE49-F238E27FC236}">
                <a16:creationId xmlns:a16="http://schemas.microsoft.com/office/drawing/2014/main" id="{7C7CBBD0-D39F-4423-A0BD-7FD84C7147C5}"/>
              </a:ext>
            </a:extLst>
          </p:cNvPr>
          <p:cNvSpPr txBox="1"/>
          <p:nvPr/>
        </p:nvSpPr>
        <p:spPr>
          <a:xfrm>
            <a:off x="9020175" y="3447454"/>
            <a:ext cx="2571750" cy="1631305"/>
          </a:xfrm>
          <a:prstGeom prst="rect">
            <a:avLst/>
          </a:prstGeom>
          <a:noFill/>
        </p:spPr>
        <p:txBody>
          <a:bodyPr wrap="square" rtlCol="0">
            <a:normAutofit/>
          </a:bodyPr>
          <a:lstStyle/>
          <a:p>
            <a:pPr marL="0" algn="l">
              <a:spcAft>
                <a:spcPts val="1800"/>
              </a:spcAft>
              <a:buNone/>
            </a:pPr>
            <a:r>
              <a:rPr sz="5400" b="1">
                <a:solidFill>
                  <a:srgbClr val="1B334D"/>
                </a:solidFill>
                <a:effectLst/>
                <a:latin typeface="Daytona" panose="020B0604030500040204" pitchFamily="34" charset="0"/>
              </a:rPr>
              <a:t>04</a:t>
            </a:r>
            <a:r>
              <a:rPr>
                <a:effectLst/>
              </a:rPr>
              <a:t> </a:t>
            </a:r>
          </a:p>
          <a:p>
            <a:pPr marL="0" algn="l">
              <a:spcAft>
                <a:spcPts val="900"/>
              </a:spcAft>
              <a:buNone/>
            </a:pPr>
            <a:r>
              <a:rPr sz="1425" b="1">
                <a:solidFill>
                  <a:srgbClr val="1B334D"/>
                </a:solidFill>
                <a:effectLst/>
                <a:latin typeface="Daytona" panose="020B0604030500040204" pitchFamily="34" charset="0"/>
              </a:rPr>
              <a:t>Cycle, Check Win, Next Turn</a:t>
            </a:r>
            <a:r>
              <a:rPr>
                <a:effectLst/>
              </a:rPr>
              <a:t> </a:t>
            </a:r>
          </a:p>
          <a:p>
            <a:pPr marL="0" algn="l">
              <a:buNone/>
            </a:pPr>
            <a:r>
              <a:rPr sz="1425" b="0">
                <a:solidFill>
                  <a:srgbClr val="1B334D"/>
                </a:solidFill>
                <a:effectLst/>
                <a:latin typeface="Daytona" panose="020B0604030500040204" pitchFamily="34" charset="0"/>
              </a:rPr>
              <a:t>Evaluate win conditions; pass turn and repeat.</a:t>
            </a:r>
            <a:r>
              <a:rPr>
                <a:effectLst/>
              </a:rPr>
              <a:t> </a:t>
            </a:r>
            <a:endParaRPr lang="en-IN"/>
          </a:p>
        </p:txBody>
      </p:sp>
    </p:spTree>
    <p:extLst>
      <p:ext uri="{BB962C8B-B14F-4D97-AF65-F5344CB8AC3E}">
        <p14:creationId xmlns:p14="http://schemas.microsoft.com/office/powerpoint/2010/main" val="2596958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881A232-A37A-495A-A855-19B513AF1EEA}"/>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vocal or instrumental sounds or both combined in such a way as to produce beauty of form, harmony, and expression of emotion.">
            <a:extLst>
              <a:ext uri="{FF2B5EF4-FFF2-40B4-BE49-F238E27FC236}">
                <a16:creationId xmlns:a16="http://schemas.microsoft.com/office/drawing/2014/main" id="{85752F66-0235-4689-84C3-641CC75B1F11}"/>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7DCB168A-E46A-4655-81DC-339F20DB8BF2}"/>
              </a:ext>
            </a:extLst>
          </p:cNvPr>
          <p:cNvSpPr txBox="1"/>
          <p:nvPr/>
        </p:nvSpPr>
        <p:spPr>
          <a:xfrm>
            <a:off x="7200900" y="581025"/>
            <a:ext cx="4391025" cy="2011560"/>
          </a:xfrm>
          <a:prstGeom prst="rect">
            <a:avLst/>
          </a:prstGeom>
          <a:noFill/>
        </p:spPr>
        <p:txBody>
          <a:bodyPr wrap="square" rtlCol="0">
            <a:normAutofit/>
          </a:bodyPr>
          <a:lstStyle/>
          <a:p>
            <a:pPr marL="0" algn="l">
              <a:buNone/>
            </a:pPr>
            <a:r>
              <a:rPr sz="3600">
                <a:solidFill>
                  <a:srgbClr val="1B334D"/>
                </a:solidFill>
                <a:effectLst/>
                <a:latin typeface="Daytona Bold" panose="020B0804030500040204" pitchFamily="34" charset="0"/>
              </a:rPr>
              <a:t>Game Features – Dynamic Board, Timer, Real-Time Scoring</a:t>
            </a:r>
            <a:r>
              <a:rPr>
                <a:effectLst/>
              </a:rPr>
              <a:t> </a:t>
            </a:r>
            <a:endParaRPr lang="en-IN"/>
          </a:p>
        </p:txBody>
      </p:sp>
      <p:sp>
        <p:nvSpPr>
          <p:cNvPr id="8" name="TextBox 7">
            <a:extLst>
              <a:ext uri="{FF2B5EF4-FFF2-40B4-BE49-F238E27FC236}">
                <a16:creationId xmlns:a16="http://schemas.microsoft.com/office/drawing/2014/main" id="{1F9631B0-4611-44E9-A1FC-79AC949C1444}"/>
              </a:ext>
            </a:extLst>
          </p:cNvPr>
          <p:cNvSpPr txBox="1"/>
          <p:nvPr/>
        </p:nvSpPr>
        <p:spPr>
          <a:xfrm>
            <a:off x="7200900" y="2935485"/>
            <a:ext cx="4391025" cy="3408759"/>
          </a:xfrm>
          <a:prstGeom prst="rect">
            <a:avLst/>
          </a:prstGeom>
          <a:noFill/>
        </p:spPr>
        <p:txBody>
          <a:bodyPr wrap="square" rtlCol="0">
            <a:normAutofit/>
          </a:bodyPr>
          <a:lstStyle/>
          <a:p>
            <a:pPr marL="0" algn="l">
              <a:buNone/>
            </a:pPr>
            <a:r>
              <a:rPr sz="1350">
                <a:solidFill>
                  <a:srgbClr val="1B334D"/>
                </a:solidFill>
                <a:effectLst/>
                <a:latin typeface="Daytona Bold" panose="020B0804030500040204" pitchFamily="34" charset="0"/>
              </a:rPr>
              <a:t>Dynamic Voronoi Board</a:t>
            </a:r>
            <a:r>
              <a:rPr>
                <a:effectLst/>
              </a:rPr>
              <a:t> </a:t>
            </a:r>
          </a:p>
          <a:p>
            <a:pPr marL="0" algn="l">
              <a:spcBef>
                <a:spcPts val="750"/>
              </a:spcBef>
              <a:buNone/>
            </a:pPr>
            <a:r>
              <a:rPr sz="1350">
                <a:solidFill>
                  <a:srgbClr val="1B334D"/>
                </a:solidFill>
                <a:effectLst/>
                <a:latin typeface="Daytona Regular"/>
              </a:rPr>
              <a:t>Procedurally generated regions make each match unique, boosting replayability.</a:t>
            </a:r>
            <a:r>
              <a:rPr>
                <a:effectLst/>
              </a:rPr>
              <a:t> </a:t>
            </a:r>
          </a:p>
          <a:p>
            <a:pPr marL="0" algn="l">
              <a:spcBef>
                <a:spcPts val="750"/>
              </a:spcBef>
              <a:buNone/>
            </a:pPr>
            <a:r>
              <a:rPr sz="1350">
                <a:solidFill>
                  <a:srgbClr val="1B334D"/>
                </a:solidFill>
                <a:effectLst/>
                <a:latin typeface="Daytona Bold" panose="020B0804030500040204" pitchFamily="34" charset="0"/>
              </a:rPr>
              <a:t>Turn Timer</a:t>
            </a:r>
            <a:r>
              <a:rPr>
                <a:effectLst/>
              </a:rPr>
              <a:t> </a:t>
            </a:r>
          </a:p>
          <a:p>
            <a:pPr marL="0" algn="l">
              <a:spcBef>
                <a:spcPts val="750"/>
              </a:spcBef>
              <a:buNone/>
            </a:pPr>
            <a:r>
              <a:rPr sz="1350">
                <a:solidFill>
                  <a:srgbClr val="1B334D"/>
                </a:solidFill>
                <a:effectLst/>
                <a:latin typeface="Daytona Regular"/>
              </a:rPr>
              <a:t>Countdown limits decision time, adding pressure and pacing the experience.</a:t>
            </a:r>
            <a:r>
              <a:rPr>
                <a:effectLst/>
              </a:rPr>
              <a:t> </a:t>
            </a:r>
          </a:p>
          <a:p>
            <a:pPr marL="0" algn="l">
              <a:spcBef>
                <a:spcPts val="750"/>
              </a:spcBef>
              <a:buNone/>
            </a:pPr>
            <a:r>
              <a:rPr sz="1350">
                <a:solidFill>
                  <a:srgbClr val="1B334D"/>
                </a:solidFill>
                <a:effectLst/>
                <a:latin typeface="Daytona Bold" panose="020B0804030500040204" pitchFamily="34" charset="0"/>
              </a:rPr>
              <a:t>Real-Time Scoring</a:t>
            </a:r>
            <a:r>
              <a:rPr>
                <a:effectLst/>
              </a:rPr>
              <a:t> </a:t>
            </a:r>
          </a:p>
          <a:p>
            <a:pPr marL="0" algn="l">
              <a:spcBef>
                <a:spcPts val="750"/>
              </a:spcBef>
              <a:buNone/>
            </a:pPr>
            <a:r>
              <a:rPr sz="1350">
                <a:solidFill>
                  <a:srgbClr val="1B334D"/>
                </a:solidFill>
                <a:effectLst/>
                <a:latin typeface="Daytona Regular"/>
              </a:rPr>
              <a:t>Live updates keep players informed, guiding strategy and sustaining engagement.</a:t>
            </a:r>
            <a:r>
              <a:rPr>
                <a:effectLst/>
              </a:rPr>
              <a:t> </a:t>
            </a:r>
          </a:p>
          <a:p>
            <a:pPr marL="0" algn="l">
              <a:spcBef>
                <a:spcPts val="750"/>
              </a:spcBef>
              <a:buNone/>
            </a:pPr>
            <a:r>
              <a:rPr sz="1350">
                <a:solidFill>
                  <a:srgbClr val="1B334D"/>
                </a:solidFill>
                <a:effectLst/>
                <a:latin typeface="Daytona Bold" panose="020B0804030500040204" pitchFamily="34" charset="0"/>
              </a:rPr>
              <a:t>Usability Insights</a:t>
            </a:r>
            <a:r>
              <a:rPr>
                <a:effectLst/>
              </a:rPr>
              <a:t> </a:t>
            </a:r>
          </a:p>
          <a:p>
            <a:pPr marL="0" algn="l">
              <a:spcBef>
                <a:spcPts val="750"/>
              </a:spcBef>
              <a:buNone/>
            </a:pPr>
            <a:r>
              <a:rPr sz="1350">
                <a:solidFill>
                  <a:srgbClr val="1B334D"/>
                </a:solidFill>
                <a:effectLst/>
                <a:latin typeface="Daytona Regular"/>
              </a:rPr>
              <a:t>Studies show dynamic, time-bound play increases competitiveness and immersion.</a:t>
            </a:r>
            <a:r>
              <a:rPr>
                <a:effectLst/>
              </a:rPr>
              <a:t> </a:t>
            </a:r>
            <a:endParaRPr lang="en-IN"/>
          </a:p>
        </p:txBody>
      </p:sp>
    </p:spTree>
    <p:extLst>
      <p:ext uri="{BB962C8B-B14F-4D97-AF65-F5344CB8AC3E}">
        <p14:creationId xmlns:p14="http://schemas.microsoft.com/office/powerpoint/2010/main" val="1366854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866BF3-FCB7-45C3-BFEB-E16999F08131}"/>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Digital Media concept cube of screens smart TV">
            <a:extLst>
              <a:ext uri="{FF2B5EF4-FFF2-40B4-BE49-F238E27FC236}">
                <a16:creationId xmlns:a16="http://schemas.microsoft.com/office/drawing/2014/main" id="{ADBF93C3-4A06-44D3-B789-1848875ADFF4}"/>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9ECF6BE8-9365-49E9-9E4A-459B48F114E2}"/>
              </a:ext>
            </a:extLst>
          </p:cNvPr>
          <p:cNvSpPr txBox="1"/>
          <p:nvPr/>
        </p:nvSpPr>
        <p:spPr>
          <a:xfrm>
            <a:off x="7200900" y="581025"/>
            <a:ext cx="4391025" cy="1508670"/>
          </a:xfrm>
          <a:prstGeom prst="rect">
            <a:avLst/>
          </a:prstGeom>
          <a:noFill/>
        </p:spPr>
        <p:txBody>
          <a:bodyPr wrap="square" rtlCol="0">
            <a:normAutofit/>
          </a:bodyPr>
          <a:lstStyle/>
          <a:p>
            <a:pPr marL="0" algn="l">
              <a:buNone/>
            </a:pPr>
            <a:r>
              <a:rPr sz="3600" b="1">
                <a:solidFill>
                  <a:srgbClr val="1B334D"/>
                </a:solidFill>
                <a:effectLst/>
                <a:latin typeface="Daytona" panose="020B0604030500040204" pitchFamily="34" charset="0"/>
              </a:rPr>
              <a:t>UI &amp; UX Design – Dark Mode &amp; Responsiveness</a:t>
            </a:r>
            <a:r>
              <a:rPr>
                <a:effectLst/>
              </a:rPr>
              <a:t> </a:t>
            </a:r>
            <a:endParaRPr lang="en-IN"/>
          </a:p>
        </p:txBody>
      </p:sp>
      <p:sp>
        <p:nvSpPr>
          <p:cNvPr id="8" name="TextBox 7">
            <a:extLst>
              <a:ext uri="{FF2B5EF4-FFF2-40B4-BE49-F238E27FC236}">
                <a16:creationId xmlns:a16="http://schemas.microsoft.com/office/drawing/2014/main" id="{607FF75D-FCE1-40CC-B43D-1EDE4226061E}"/>
              </a:ext>
            </a:extLst>
          </p:cNvPr>
          <p:cNvSpPr txBox="1"/>
          <p:nvPr/>
        </p:nvSpPr>
        <p:spPr>
          <a:xfrm>
            <a:off x="7200900" y="2432595"/>
            <a:ext cx="4391025" cy="4513361"/>
          </a:xfrm>
          <a:prstGeom prst="rect">
            <a:avLst/>
          </a:prstGeom>
          <a:noFill/>
        </p:spPr>
        <p:txBody>
          <a:bodyPr wrap="square" rtlCol="0">
            <a:normAutofit/>
          </a:bodyPr>
          <a:lstStyle/>
          <a:p>
            <a:pPr marL="0" algn="l">
              <a:buNone/>
            </a:pPr>
            <a:r>
              <a:rPr sz="1350" b="1">
                <a:solidFill>
                  <a:srgbClr val="1B334D"/>
                </a:solidFill>
                <a:effectLst/>
                <a:latin typeface="Daytona" panose="020B0604030500040204" pitchFamily="34" charset="0"/>
              </a:rPr>
              <a:t>Dark Mode Comfort</a:t>
            </a:r>
            <a:r>
              <a:rPr>
                <a:effectLst/>
              </a:rPr>
              <a:t> </a:t>
            </a:r>
          </a:p>
          <a:p>
            <a:pPr marL="0" algn="l">
              <a:spcBef>
                <a:spcPts val="750"/>
              </a:spcBef>
              <a:buNone/>
            </a:pPr>
            <a:r>
              <a:rPr sz="1350" b="0">
                <a:solidFill>
                  <a:srgbClr val="1B334D"/>
                </a:solidFill>
                <a:effectLst/>
                <a:latin typeface="Daytona" panose="020B0604030500040204" pitchFamily="34" charset="0"/>
              </a:rPr>
              <a:t>Reduced eye strain with deep contrasts favored in gaming and productivity flows.</a:t>
            </a:r>
            <a:r>
              <a:rPr>
                <a:effectLst/>
              </a:rPr>
              <a:t> </a:t>
            </a:r>
          </a:p>
          <a:p>
            <a:pPr marL="0" algn="l">
              <a:spcBef>
                <a:spcPts val="1200"/>
              </a:spcBef>
              <a:buNone/>
            </a:pPr>
            <a:r>
              <a:rPr sz="1350" b="1">
                <a:solidFill>
                  <a:srgbClr val="1B334D"/>
                </a:solidFill>
                <a:effectLst/>
                <a:latin typeface="Daytona" panose="020B0604030500040204" pitchFamily="34" charset="0"/>
              </a:rPr>
              <a:t>Responsive Everywhere</a:t>
            </a:r>
            <a:r>
              <a:rPr>
                <a:effectLst/>
              </a:rPr>
              <a:t> </a:t>
            </a:r>
          </a:p>
          <a:p>
            <a:pPr marL="0" algn="l">
              <a:spcBef>
                <a:spcPts val="750"/>
              </a:spcBef>
              <a:buNone/>
            </a:pPr>
            <a:r>
              <a:rPr sz="1350" b="0">
                <a:solidFill>
                  <a:srgbClr val="1B334D"/>
                </a:solidFill>
                <a:effectLst/>
                <a:latin typeface="Daytona" panose="020B0604030500040204" pitchFamily="34" charset="0"/>
              </a:rPr>
              <a:t>Seamless play across desktop, tablet, and mobile with consistent interactions.</a:t>
            </a:r>
            <a:r>
              <a:rPr>
                <a:effectLst/>
              </a:rPr>
              <a:t> </a:t>
            </a:r>
          </a:p>
          <a:p>
            <a:pPr marL="0" algn="l">
              <a:spcBef>
                <a:spcPts val="1200"/>
              </a:spcBef>
              <a:buNone/>
            </a:pPr>
            <a:r>
              <a:rPr sz="1350" b="1">
                <a:solidFill>
                  <a:srgbClr val="1B334D"/>
                </a:solidFill>
                <a:effectLst/>
                <a:latin typeface="Daytona" panose="020B0604030500040204" pitchFamily="34" charset="0"/>
              </a:rPr>
              <a:t>Interactive SVG Graphics</a:t>
            </a:r>
            <a:r>
              <a:rPr>
                <a:effectLst/>
              </a:rPr>
              <a:t> </a:t>
            </a:r>
          </a:p>
          <a:p>
            <a:pPr marL="0" algn="l">
              <a:spcBef>
                <a:spcPts val="750"/>
              </a:spcBef>
              <a:buNone/>
            </a:pPr>
            <a:r>
              <a:rPr sz="1350" b="0">
                <a:solidFill>
                  <a:srgbClr val="1B334D"/>
                </a:solidFill>
                <a:effectLst/>
                <a:latin typeface="Daytona" panose="020B0604030500040204" pitchFamily="34" charset="0"/>
              </a:rPr>
              <a:t>Smooth edge selections, polygon highlights, and intuitive hover/click feedback.</a:t>
            </a:r>
            <a:r>
              <a:rPr>
                <a:effectLst/>
              </a:rPr>
              <a:t> </a:t>
            </a:r>
          </a:p>
          <a:p>
            <a:pPr marL="0" algn="l">
              <a:spcBef>
                <a:spcPts val="1200"/>
              </a:spcBef>
              <a:buNone/>
            </a:pPr>
            <a:r>
              <a:rPr sz="1350" b="1">
                <a:solidFill>
                  <a:srgbClr val="1B334D"/>
                </a:solidFill>
                <a:effectLst/>
                <a:latin typeface="Daytona" panose="020B0604030500040204" pitchFamily="34" charset="0"/>
              </a:rPr>
              <a:t>Proven Usability Gains</a:t>
            </a:r>
            <a:r>
              <a:rPr>
                <a:effectLst/>
              </a:rPr>
              <a:t> </a:t>
            </a:r>
          </a:p>
          <a:p>
            <a:pPr marL="0" algn="l">
              <a:spcBef>
                <a:spcPts val="750"/>
              </a:spcBef>
              <a:buNone/>
            </a:pPr>
            <a:r>
              <a:rPr sz="1350" b="0">
                <a:solidFill>
                  <a:srgbClr val="1B334D"/>
                </a:solidFill>
                <a:effectLst/>
                <a:latin typeface="Daytona" panose="020B0604030500040204" pitchFamily="34" charset="0"/>
              </a:rPr>
              <a:t>User testing shows higher satisfaction and faster task completion.</a:t>
            </a:r>
            <a:r>
              <a:rPr>
                <a:effectLst/>
              </a:rPr>
              <a:t> </a:t>
            </a:r>
          </a:p>
          <a:p>
            <a:pPr marL="0" algn="l">
              <a:spcBef>
                <a:spcPts val="1200"/>
              </a:spcBef>
              <a:buNone/>
            </a:pPr>
            <a:r>
              <a:rPr sz="1350" b="1">
                <a:solidFill>
                  <a:srgbClr val="1B334D"/>
                </a:solidFill>
                <a:effectLst/>
                <a:latin typeface="Daytona" panose="020B0604030500040204" pitchFamily="34" charset="0"/>
              </a:rPr>
              <a:t>Inclusive Accessibility</a:t>
            </a:r>
            <a:r>
              <a:rPr>
                <a:effectLst/>
              </a:rPr>
              <a:t> </a:t>
            </a:r>
          </a:p>
          <a:p>
            <a:pPr marL="0" algn="l">
              <a:spcBef>
                <a:spcPts val="750"/>
              </a:spcBef>
              <a:buNone/>
            </a:pPr>
            <a:r>
              <a:rPr sz="1350" b="0">
                <a:solidFill>
                  <a:srgbClr val="1B334D"/>
                </a:solidFill>
                <a:effectLst/>
                <a:latin typeface="Daytona" panose="020B0604030500040204" pitchFamily="34" charset="0"/>
              </a:rPr>
              <a:t>Clear contrast, keyboard navigation, and assistive-friendly patterns.</a:t>
            </a:r>
            <a:r>
              <a:rPr>
                <a:effectLst/>
              </a:rPr>
              <a:t> </a:t>
            </a:r>
            <a:endParaRPr lang="en-IN"/>
          </a:p>
        </p:txBody>
      </p:sp>
    </p:spTree>
    <p:extLst>
      <p:ext uri="{BB962C8B-B14F-4D97-AF65-F5344CB8AC3E}">
        <p14:creationId xmlns:p14="http://schemas.microsoft.com/office/powerpoint/2010/main" val="2441564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E2183B7-410F-4E1A-B817-8C77324B9668}"/>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BE27B796-E958-4BCD-BA19-6DCA7C4EDBD2}"/>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781050" y="2272010"/>
            <a:ext cx="857250" cy="857250"/>
          </a:xfrm>
          <a:prstGeom prst="rect">
            <a:avLst/>
          </a:prstGeom>
        </p:spPr>
      </p:pic>
      <p:pic>
        <p:nvPicPr>
          <p:cNvPr id="7" name="Graphic 6" descr="Computer display with blank white screen, &quot;nComputer monitor isolated on white background with clipping path.">
            <a:extLst>
              <a:ext uri="{FF2B5EF4-FFF2-40B4-BE49-F238E27FC236}">
                <a16:creationId xmlns:a16="http://schemas.microsoft.com/office/drawing/2014/main" id="{BB459F6B-716E-44B7-B265-50DA9FDE763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5825" y="2376785"/>
            <a:ext cx="647700" cy="647700"/>
          </a:xfrm>
          <a:prstGeom prst="rect">
            <a:avLst/>
          </a:prstGeom>
        </p:spPr>
      </p:pic>
      <p:pic>
        <p:nvPicPr>
          <p:cNvPr id="8" name="Graphic 7">
            <a:extLst>
              <a:ext uri="{FF2B5EF4-FFF2-40B4-BE49-F238E27FC236}">
                <a16:creationId xmlns:a16="http://schemas.microsoft.com/office/drawing/2014/main" id="{C4E6F903-4FE6-429D-9D6C-DA2B9D96B2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2272010"/>
            <a:ext cx="857250" cy="857250"/>
          </a:xfrm>
          <a:prstGeom prst="rect">
            <a:avLst/>
          </a:prstGeom>
        </p:spPr>
      </p:pic>
      <p:pic>
        <p:nvPicPr>
          <p:cNvPr id="9" name="Graphic 8" descr="Powerful computer server installed in a rack in a data center server room">
            <a:extLst>
              <a:ext uri="{FF2B5EF4-FFF2-40B4-BE49-F238E27FC236}">
                <a16:creationId xmlns:a16="http://schemas.microsoft.com/office/drawing/2014/main" id="{59DD8BC7-C69F-4F98-8294-1638E91D88C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77000" y="2376785"/>
            <a:ext cx="647700" cy="647700"/>
          </a:xfrm>
          <a:prstGeom prst="rect">
            <a:avLst/>
          </a:prstGeom>
        </p:spPr>
      </p:pic>
      <p:pic>
        <p:nvPicPr>
          <p:cNvPr id="10" name="Graphic 9">
            <a:extLst>
              <a:ext uri="{FF2B5EF4-FFF2-40B4-BE49-F238E27FC236}">
                <a16:creationId xmlns:a16="http://schemas.microsoft.com/office/drawing/2014/main" id="{CBCC9BD7-CB1C-4E78-8388-88742FAFFD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1050" y="4707880"/>
            <a:ext cx="857250" cy="857250"/>
          </a:xfrm>
          <a:prstGeom prst="rect">
            <a:avLst/>
          </a:prstGeom>
        </p:spPr>
      </p:pic>
      <p:pic>
        <p:nvPicPr>
          <p:cNvPr id="11" name="Graphic 10" descr="The symbol of autism is a multi-colored puzzle in the form of a heart in the hands of caring parents. Care and love for children autism spectrum disorder and neurodiversity awareness. High quality 3d illustration">
            <a:extLst>
              <a:ext uri="{FF2B5EF4-FFF2-40B4-BE49-F238E27FC236}">
                <a16:creationId xmlns:a16="http://schemas.microsoft.com/office/drawing/2014/main" id="{3B250375-1076-4A28-AE88-04EAF8E3801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5825" y="4812655"/>
            <a:ext cx="647700" cy="647700"/>
          </a:xfrm>
          <a:prstGeom prst="rect">
            <a:avLst/>
          </a:prstGeom>
        </p:spPr>
      </p:pic>
      <p:pic>
        <p:nvPicPr>
          <p:cNvPr id="12" name="Graphic 11">
            <a:extLst>
              <a:ext uri="{FF2B5EF4-FFF2-40B4-BE49-F238E27FC236}">
                <a16:creationId xmlns:a16="http://schemas.microsoft.com/office/drawing/2014/main" id="{66655D50-E97C-42B0-B36D-E33EA843AB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4707880"/>
            <a:ext cx="857250" cy="857250"/>
          </a:xfrm>
          <a:prstGeom prst="rect">
            <a:avLst/>
          </a:prstGeom>
        </p:spPr>
      </p:pic>
      <p:pic>
        <p:nvPicPr>
          <p:cNvPr id="13" name="Graphic 12" descr="Close-up Of A Businessperson's Hand Holding Shield Shield With Checkmark Icon">
            <a:extLst>
              <a:ext uri="{FF2B5EF4-FFF2-40B4-BE49-F238E27FC236}">
                <a16:creationId xmlns:a16="http://schemas.microsoft.com/office/drawing/2014/main" id="{EBA7AC69-CC6E-45AF-AB3B-56AB4DDCBC3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77000" y="4812655"/>
            <a:ext cx="647700" cy="647700"/>
          </a:xfrm>
          <a:prstGeom prst="rect">
            <a:avLst/>
          </a:prstGeom>
        </p:spPr>
      </p:pic>
      <p:sp>
        <p:nvSpPr>
          <p:cNvPr id="14" name="TextBox 13">
            <a:extLst>
              <a:ext uri="{FF2B5EF4-FFF2-40B4-BE49-F238E27FC236}">
                <a16:creationId xmlns:a16="http://schemas.microsoft.com/office/drawing/2014/main" id="{D588C094-803A-44E4-AFD7-248318712078}"/>
              </a:ext>
            </a:extLst>
          </p:cNvPr>
          <p:cNvSpPr txBox="1"/>
          <p:nvPr/>
        </p:nvSpPr>
        <p:spPr>
          <a:xfrm>
            <a:off x="619125" y="1038225"/>
            <a:ext cx="10972800" cy="502890"/>
          </a:xfrm>
          <a:prstGeom prst="rect">
            <a:avLst/>
          </a:prstGeom>
          <a:noFill/>
        </p:spPr>
        <p:txBody>
          <a:bodyPr wrap="square" rtlCol="0">
            <a:normAutofit/>
          </a:bodyPr>
          <a:lstStyle/>
          <a:p>
            <a:pPr marL="0" algn="l">
              <a:buNone/>
            </a:pPr>
            <a:r>
              <a:rPr sz="3600" b="0">
                <a:solidFill>
                  <a:srgbClr val="1B334D"/>
                </a:solidFill>
                <a:effectLst/>
                <a:latin typeface="Daytona Bold" panose="020B0804030500040204" pitchFamily="34" charset="0"/>
              </a:rPr>
              <a:t>Technical Architecture: Frontend &amp; Backend</a:t>
            </a:r>
            <a:r>
              <a:rPr>
                <a:effectLst/>
              </a:rPr>
              <a:t> </a:t>
            </a:r>
            <a:endParaRPr lang="en-IN"/>
          </a:p>
        </p:txBody>
      </p:sp>
      <p:sp>
        <p:nvSpPr>
          <p:cNvPr id="15" name="TextBox 14">
            <a:extLst>
              <a:ext uri="{FF2B5EF4-FFF2-40B4-BE49-F238E27FC236}">
                <a16:creationId xmlns:a16="http://schemas.microsoft.com/office/drawing/2014/main" id="{C8FB5B0C-2A06-4DC5-927F-41F7C6FDDAB8}"/>
              </a:ext>
            </a:extLst>
          </p:cNvPr>
          <p:cNvSpPr txBox="1"/>
          <p:nvPr/>
        </p:nvSpPr>
        <p:spPr>
          <a:xfrm>
            <a:off x="1866900" y="2357735"/>
            <a:ext cx="3810000" cy="1367432"/>
          </a:xfrm>
          <a:prstGeom prst="rect">
            <a:avLst/>
          </a:prstGeom>
          <a:noFill/>
        </p:spPr>
        <p:txBody>
          <a:bodyPr wrap="square" rtlCol="0">
            <a:normAutofit/>
          </a:bodyPr>
          <a:lstStyle/>
          <a:p>
            <a:pPr marL="0" algn="l">
              <a:buNone/>
            </a:pPr>
            <a:r>
              <a:rPr sz="1575" b="1">
                <a:solidFill>
                  <a:srgbClr val="1B334D"/>
                </a:solidFill>
                <a:effectLst/>
                <a:latin typeface="Daytona Bold" panose="020B0804030500040204" pitchFamily="34" charset="0"/>
              </a:rPr>
              <a:t>Frontend Responsibilities</a:t>
            </a:r>
            <a:r>
              <a:rPr>
                <a:effectLst/>
              </a:rPr>
              <a:t> </a:t>
            </a:r>
          </a:p>
          <a:p>
            <a:pPr marL="0" algn="l">
              <a:spcBef>
                <a:spcPts val="900"/>
              </a:spcBef>
              <a:buNone/>
            </a:pPr>
            <a:r>
              <a:rPr sz="1425" b="0">
                <a:solidFill>
                  <a:srgbClr val="1B334D"/>
                </a:solidFill>
                <a:effectLst/>
                <a:latin typeface="Daytona Regular"/>
              </a:rPr>
              <a:t>Handles UI rendering, user input, and dynamic updates. Connects to backend via APIs for real-time feedback and interactive gameplay.</a:t>
            </a:r>
            <a:r>
              <a:rPr>
                <a:effectLst/>
              </a:rPr>
              <a:t> </a:t>
            </a:r>
            <a:endParaRPr lang="en-IN"/>
          </a:p>
        </p:txBody>
      </p:sp>
      <p:sp>
        <p:nvSpPr>
          <p:cNvPr id="16" name="TextBox 15">
            <a:extLst>
              <a:ext uri="{FF2B5EF4-FFF2-40B4-BE49-F238E27FC236}">
                <a16:creationId xmlns:a16="http://schemas.microsoft.com/office/drawing/2014/main" id="{19E72B44-FD32-434C-8F71-482BF606C011}"/>
              </a:ext>
            </a:extLst>
          </p:cNvPr>
          <p:cNvSpPr txBox="1"/>
          <p:nvPr/>
        </p:nvSpPr>
        <p:spPr>
          <a:xfrm>
            <a:off x="7458075" y="2357735"/>
            <a:ext cx="3810000" cy="1367432"/>
          </a:xfrm>
          <a:prstGeom prst="rect">
            <a:avLst/>
          </a:prstGeom>
          <a:noFill/>
        </p:spPr>
        <p:txBody>
          <a:bodyPr wrap="square" rtlCol="0">
            <a:normAutofit/>
          </a:bodyPr>
          <a:lstStyle/>
          <a:p>
            <a:pPr marL="0" algn="l">
              <a:buNone/>
            </a:pPr>
            <a:r>
              <a:rPr sz="1575" b="1">
                <a:solidFill>
                  <a:srgbClr val="1B334D"/>
                </a:solidFill>
                <a:effectLst/>
                <a:latin typeface="Daytona Bold" panose="020B0804030500040204" pitchFamily="34" charset="0"/>
              </a:rPr>
              <a:t>Backend Functions</a:t>
            </a:r>
            <a:r>
              <a:rPr>
                <a:effectLst/>
              </a:rPr>
              <a:t> </a:t>
            </a:r>
          </a:p>
          <a:p>
            <a:pPr marL="0" algn="l">
              <a:spcBef>
                <a:spcPts val="900"/>
              </a:spcBef>
              <a:buNone/>
            </a:pPr>
            <a:r>
              <a:rPr sz="1425" b="0">
                <a:solidFill>
                  <a:srgbClr val="1B334D"/>
                </a:solidFill>
                <a:effectLst/>
                <a:latin typeface="Daytona Regular"/>
              </a:rPr>
              <a:t>Manages game logic, scoring, and state persistence. Exposes RESTful APIs and supports WebSocket or polling for real-time updates.</a:t>
            </a:r>
            <a:r>
              <a:rPr>
                <a:effectLst/>
              </a:rPr>
              <a:t> </a:t>
            </a:r>
            <a:endParaRPr lang="en-IN"/>
          </a:p>
        </p:txBody>
      </p:sp>
      <p:sp>
        <p:nvSpPr>
          <p:cNvPr id="17" name="TextBox 16">
            <a:extLst>
              <a:ext uri="{FF2B5EF4-FFF2-40B4-BE49-F238E27FC236}">
                <a16:creationId xmlns:a16="http://schemas.microsoft.com/office/drawing/2014/main" id="{C57439E9-FB8D-4C4F-85ED-A5CBF26B0E19}"/>
              </a:ext>
            </a:extLst>
          </p:cNvPr>
          <p:cNvSpPr txBox="1"/>
          <p:nvPr/>
        </p:nvSpPr>
        <p:spPr>
          <a:xfrm>
            <a:off x="1866900" y="4793605"/>
            <a:ext cx="3810000" cy="1367432"/>
          </a:xfrm>
          <a:prstGeom prst="rect">
            <a:avLst/>
          </a:prstGeom>
          <a:noFill/>
        </p:spPr>
        <p:txBody>
          <a:bodyPr wrap="square" rtlCol="0">
            <a:normAutofit/>
          </a:bodyPr>
          <a:lstStyle/>
          <a:p>
            <a:pPr marL="0" algn="l">
              <a:buNone/>
            </a:pPr>
            <a:r>
              <a:rPr sz="1575" b="1">
                <a:solidFill>
                  <a:srgbClr val="1B334D"/>
                </a:solidFill>
                <a:effectLst/>
                <a:latin typeface="Daytona Bold" panose="020B0804030500040204" pitchFamily="34" charset="0"/>
              </a:rPr>
              <a:t>Separation Benefits</a:t>
            </a:r>
            <a:r>
              <a:rPr>
                <a:effectLst/>
              </a:rPr>
              <a:t> </a:t>
            </a:r>
          </a:p>
          <a:p>
            <a:pPr marL="0" algn="l">
              <a:spcBef>
                <a:spcPts val="900"/>
              </a:spcBef>
              <a:buNone/>
            </a:pPr>
            <a:r>
              <a:rPr sz="1425" b="0">
                <a:solidFill>
                  <a:srgbClr val="1B334D"/>
                </a:solidFill>
                <a:effectLst/>
                <a:latin typeface="Daytona Regular"/>
              </a:rPr>
              <a:t>Enables scalable development, easier maintenance, and better performance. Supports modular upgrades and future multiplayer or AI extensions.</a:t>
            </a:r>
            <a:r>
              <a:rPr>
                <a:effectLst/>
              </a:rPr>
              <a:t> </a:t>
            </a:r>
            <a:endParaRPr lang="en-IN"/>
          </a:p>
        </p:txBody>
      </p:sp>
      <p:sp>
        <p:nvSpPr>
          <p:cNvPr id="18" name="TextBox 17">
            <a:extLst>
              <a:ext uri="{FF2B5EF4-FFF2-40B4-BE49-F238E27FC236}">
                <a16:creationId xmlns:a16="http://schemas.microsoft.com/office/drawing/2014/main" id="{45B6262F-C06B-4D20-952D-37C4895C0DEA}"/>
              </a:ext>
            </a:extLst>
          </p:cNvPr>
          <p:cNvSpPr txBox="1"/>
          <p:nvPr/>
        </p:nvSpPr>
        <p:spPr>
          <a:xfrm>
            <a:off x="7458075" y="4793605"/>
            <a:ext cx="3810000" cy="1114127"/>
          </a:xfrm>
          <a:prstGeom prst="rect">
            <a:avLst/>
          </a:prstGeom>
          <a:noFill/>
        </p:spPr>
        <p:txBody>
          <a:bodyPr wrap="square" rtlCol="0">
            <a:normAutofit/>
          </a:bodyPr>
          <a:lstStyle/>
          <a:p>
            <a:pPr marL="0" algn="l">
              <a:buNone/>
            </a:pPr>
            <a:r>
              <a:rPr sz="1575" b="1">
                <a:solidFill>
                  <a:srgbClr val="1B334D"/>
                </a:solidFill>
                <a:effectLst/>
                <a:latin typeface="Daytona Bold" panose="020B0804030500040204" pitchFamily="34" charset="0"/>
              </a:rPr>
              <a:t>Industry Alignment</a:t>
            </a:r>
            <a:r>
              <a:rPr>
                <a:effectLst/>
              </a:rPr>
              <a:t> </a:t>
            </a:r>
          </a:p>
          <a:p>
            <a:pPr marL="0" algn="l">
              <a:spcBef>
                <a:spcPts val="900"/>
              </a:spcBef>
              <a:buNone/>
            </a:pPr>
            <a:r>
              <a:rPr sz="1425" b="0">
                <a:solidFill>
                  <a:srgbClr val="1B334D"/>
                </a:solidFill>
                <a:effectLst/>
                <a:latin typeface="Daytona Regular"/>
              </a:rPr>
              <a:t>Follows best practices for interactive web apps. Decoupling aids team collaboration and rapid feature delivery.</a:t>
            </a:r>
            <a:r>
              <a:rPr>
                <a:effectLst/>
              </a:rPr>
              <a:t> </a:t>
            </a:r>
            <a:endParaRPr lang="en-IN"/>
          </a:p>
        </p:txBody>
      </p:sp>
    </p:spTree>
    <p:extLst>
      <p:ext uri="{BB962C8B-B14F-4D97-AF65-F5344CB8AC3E}">
        <p14:creationId xmlns:p14="http://schemas.microsoft.com/office/powerpoint/2010/main" val="65419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0A8EE23-68FD-4695-B4B3-CD9DFE6C1170}"/>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46ACAC11-B6B7-FF06-9970-CA3B73381707}"/>
              </a:ext>
            </a:extLst>
          </p:cNvPr>
          <p:cNvSpPr>
            <a:spLocks noGrp="1"/>
          </p:cNvSpPr>
          <p:nvPr>
            <p:ph sz="half" idx="2"/>
          </p:nvPr>
        </p:nvSpPr>
        <p:spPr>
          <a:xfrm>
            <a:off x="733425" y="962025"/>
            <a:ext cx="10953750" cy="1340941"/>
          </a:xfrm>
        </p:spPr>
        <p:txBody>
          <a:bodyPr/>
          <a:lstStyle/>
          <a:p>
            <a:pPr marL="0" indent="0" algn="l">
              <a:buNone/>
            </a:pPr>
            <a:r>
              <a:rPr sz="4800">
                <a:solidFill>
                  <a:srgbClr val="1B334D"/>
                </a:solidFill>
                <a:effectLst/>
                <a:latin typeface="Daytona Bold" panose="020B0804030500040204" pitchFamily="34" charset="0"/>
              </a:rPr>
              <a:t>Conclusion: Unlocking Strategic Depth with Voronoi Connect 4</a:t>
            </a:r>
            <a:r>
              <a:rPr>
                <a:effectLst/>
              </a:rPr>
              <a:t> </a:t>
            </a:r>
            <a:endParaRPr lang="en-IN"/>
          </a:p>
        </p:txBody>
      </p:sp>
      <p:sp>
        <p:nvSpPr>
          <p:cNvPr id="6" name="TextBox 5">
            <a:extLst>
              <a:ext uri="{FF2B5EF4-FFF2-40B4-BE49-F238E27FC236}">
                <a16:creationId xmlns:a16="http://schemas.microsoft.com/office/drawing/2014/main" id="{7B6D94AF-D832-4EC8-BDD6-5D34DB9DF4C5}"/>
              </a:ext>
            </a:extLst>
          </p:cNvPr>
          <p:cNvSpPr txBox="1"/>
          <p:nvPr/>
        </p:nvSpPr>
        <p:spPr>
          <a:xfrm>
            <a:off x="733425" y="3580358"/>
            <a:ext cx="2524125" cy="1458813"/>
          </a:xfrm>
          <a:prstGeom prst="rect">
            <a:avLst/>
          </a:prstGeom>
          <a:noFill/>
        </p:spPr>
        <p:txBody>
          <a:bodyPr wrap="square" rtlCol="0">
            <a:normAutofit/>
          </a:bodyPr>
          <a:lstStyle/>
          <a:p>
            <a:pPr marL="0" algn="l">
              <a:buNone/>
            </a:pPr>
            <a:r>
              <a:rPr sz="1800" b="1">
                <a:solidFill>
                  <a:srgbClr val="1B334D"/>
                </a:solidFill>
                <a:effectLst/>
                <a:latin typeface="Daytona Bold" panose="020B0804030500040204" pitchFamily="34" charset="0"/>
              </a:rPr>
              <a:t>Innovative Mechanics</a:t>
            </a:r>
            <a:r>
              <a:rPr>
                <a:effectLst/>
              </a:rPr>
              <a:t> </a:t>
            </a:r>
          </a:p>
          <a:p>
            <a:pPr marL="0" algn="l">
              <a:spcBef>
                <a:spcPts val="1500"/>
              </a:spcBef>
              <a:buNone/>
            </a:pPr>
            <a:r>
              <a:rPr sz="1350">
                <a:solidFill>
                  <a:srgbClr val="1B334D"/>
                </a:solidFill>
                <a:effectLst/>
                <a:latin typeface="Daytona Regular"/>
              </a:rPr>
              <a:t>Voronoi diagrams power territory control, redefining classic Connect 4 play.</a:t>
            </a:r>
            <a:r>
              <a:rPr>
                <a:effectLst/>
              </a:rPr>
              <a:t> </a:t>
            </a:r>
            <a:endParaRPr lang="en-IN"/>
          </a:p>
        </p:txBody>
      </p:sp>
      <p:sp>
        <p:nvSpPr>
          <p:cNvPr id="7" name="TextBox 6">
            <a:extLst>
              <a:ext uri="{FF2B5EF4-FFF2-40B4-BE49-F238E27FC236}">
                <a16:creationId xmlns:a16="http://schemas.microsoft.com/office/drawing/2014/main" id="{C186A378-8637-40E2-86C5-A235404DC0DE}"/>
              </a:ext>
            </a:extLst>
          </p:cNvPr>
          <p:cNvSpPr txBox="1"/>
          <p:nvPr/>
        </p:nvSpPr>
        <p:spPr>
          <a:xfrm>
            <a:off x="3543300" y="3580358"/>
            <a:ext cx="2524125" cy="1184523"/>
          </a:xfrm>
          <a:prstGeom prst="rect">
            <a:avLst/>
          </a:prstGeom>
          <a:noFill/>
        </p:spPr>
        <p:txBody>
          <a:bodyPr wrap="square" rtlCol="0">
            <a:normAutofit/>
          </a:bodyPr>
          <a:lstStyle/>
          <a:p>
            <a:pPr marL="0" algn="l">
              <a:buNone/>
            </a:pPr>
            <a:r>
              <a:rPr sz="1800" b="1">
                <a:solidFill>
                  <a:srgbClr val="1B334D"/>
                </a:solidFill>
                <a:effectLst/>
                <a:latin typeface="Daytona Bold" panose="020B0804030500040204" pitchFamily="34" charset="0"/>
              </a:rPr>
              <a:t>Strategic Depth</a:t>
            </a:r>
            <a:r>
              <a:rPr>
                <a:effectLst/>
              </a:rPr>
              <a:t> </a:t>
            </a:r>
          </a:p>
          <a:p>
            <a:pPr marL="0" algn="l">
              <a:spcBef>
                <a:spcPts val="1500"/>
              </a:spcBef>
              <a:buNone/>
            </a:pPr>
            <a:r>
              <a:rPr sz="1350">
                <a:solidFill>
                  <a:srgbClr val="1B334D"/>
                </a:solidFill>
                <a:effectLst/>
                <a:latin typeface="Daytona Regular"/>
              </a:rPr>
              <a:t>Players balance placement, influence, and timing for multi-move advantages.</a:t>
            </a:r>
            <a:r>
              <a:rPr>
                <a:effectLst/>
              </a:rPr>
              <a:t> </a:t>
            </a:r>
            <a:endParaRPr lang="en-IN"/>
          </a:p>
        </p:txBody>
      </p:sp>
      <p:sp>
        <p:nvSpPr>
          <p:cNvPr id="8" name="TextBox 7">
            <a:extLst>
              <a:ext uri="{FF2B5EF4-FFF2-40B4-BE49-F238E27FC236}">
                <a16:creationId xmlns:a16="http://schemas.microsoft.com/office/drawing/2014/main" id="{57A1E582-48C4-40A9-B3BC-0787747E42DB}"/>
              </a:ext>
            </a:extLst>
          </p:cNvPr>
          <p:cNvSpPr txBox="1"/>
          <p:nvPr/>
        </p:nvSpPr>
        <p:spPr>
          <a:xfrm>
            <a:off x="6353175" y="3580358"/>
            <a:ext cx="2524125" cy="1184523"/>
          </a:xfrm>
          <a:prstGeom prst="rect">
            <a:avLst/>
          </a:prstGeom>
          <a:noFill/>
        </p:spPr>
        <p:txBody>
          <a:bodyPr wrap="square" rtlCol="0">
            <a:normAutofit/>
          </a:bodyPr>
          <a:lstStyle/>
          <a:p>
            <a:pPr marL="0" algn="l">
              <a:buNone/>
            </a:pPr>
            <a:r>
              <a:rPr sz="1800" b="1">
                <a:solidFill>
                  <a:srgbClr val="1B334D"/>
                </a:solidFill>
                <a:effectLst/>
                <a:latin typeface="Daytona Bold" panose="020B0804030500040204" pitchFamily="34" charset="0"/>
              </a:rPr>
              <a:t>Dynamic Scoring</a:t>
            </a:r>
            <a:r>
              <a:rPr>
                <a:effectLst/>
              </a:rPr>
              <a:t> </a:t>
            </a:r>
          </a:p>
          <a:p>
            <a:pPr marL="0" algn="l">
              <a:spcBef>
                <a:spcPts val="1500"/>
              </a:spcBef>
              <a:buNone/>
            </a:pPr>
            <a:r>
              <a:rPr sz="1350">
                <a:solidFill>
                  <a:srgbClr val="1B334D"/>
                </a:solidFill>
                <a:effectLst/>
                <a:latin typeface="Daytona Regular"/>
              </a:rPr>
              <a:t>Adaptive rules and evolving areas create engaging, replayable challenges.</a:t>
            </a:r>
            <a:r>
              <a:rPr>
                <a:effectLst/>
              </a:rPr>
              <a:t> </a:t>
            </a:r>
            <a:endParaRPr lang="en-IN"/>
          </a:p>
        </p:txBody>
      </p:sp>
      <p:sp>
        <p:nvSpPr>
          <p:cNvPr id="9" name="TextBox 8">
            <a:extLst>
              <a:ext uri="{FF2B5EF4-FFF2-40B4-BE49-F238E27FC236}">
                <a16:creationId xmlns:a16="http://schemas.microsoft.com/office/drawing/2014/main" id="{F51E1409-174A-41AA-B008-185D1A452BF4}"/>
              </a:ext>
            </a:extLst>
          </p:cNvPr>
          <p:cNvSpPr txBox="1"/>
          <p:nvPr/>
        </p:nvSpPr>
        <p:spPr>
          <a:xfrm>
            <a:off x="9163050" y="3580358"/>
            <a:ext cx="2524125" cy="1424433"/>
          </a:xfrm>
          <a:prstGeom prst="rect">
            <a:avLst/>
          </a:prstGeom>
          <a:noFill/>
        </p:spPr>
        <p:txBody>
          <a:bodyPr wrap="square" rtlCol="0">
            <a:normAutofit/>
          </a:bodyPr>
          <a:lstStyle/>
          <a:p>
            <a:pPr marL="0" algn="l">
              <a:buNone/>
            </a:pPr>
            <a:r>
              <a:rPr sz="1800" b="1">
                <a:solidFill>
                  <a:srgbClr val="1B334D"/>
                </a:solidFill>
                <a:effectLst/>
                <a:latin typeface="Daytona Bold" panose="020B0804030500040204" pitchFamily="34" charset="0"/>
              </a:rPr>
              <a:t>Architecture &amp; UX</a:t>
            </a:r>
            <a:r>
              <a:rPr>
                <a:effectLst/>
              </a:rPr>
              <a:t> </a:t>
            </a:r>
          </a:p>
          <a:p>
            <a:pPr marL="0" algn="l">
              <a:spcBef>
                <a:spcPts val="1500"/>
              </a:spcBef>
              <a:buNone/>
            </a:pPr>
            <a:r>
              <a:rPr sz="1350">
                <a:solidFill>
                  <a:srgbClr val="1B334D"/>
                </a:solidFill>
                <a:effectLst/>
                <a:latin typeface="Daytona Regular"/>
              </a:rPr>
              <a:t>Thoughtful design delivers smooth gameplay and showcases geometry in action.</a:t>
            </a:r>
            <a:r>
              <a:rPr>
                <a:effectLst/>
              </a:rPr>
              <a:t> </a:t>
            </a:r>
            <a:endParaRPr lang="en-IN"/>
          </a:p>
        </p:txBody>
      </p:sp>
    </p:spTree>
    <p:extLst>
      <p:ext uri="{BB962C8B-B14F-4D97-AF65-F5344CB8AC3E}">
        <p14:creationId xmlns:p14="http://schemas.microsoft.com/office/powerpoint/2010/main" val="5704195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1782</Words>
  <Application>Microsoft Office PowerPoint</Application>
  <PresentationFormat>Widescreen</PresentationFormat>
  <Paragraphs>131</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Daytona</vt:lpstr>
      <vt:lpstr>Daytona Bold</vt:lpstr>
      <vt:lpstr>Daytona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Hayagreev Narayanan</dc:creator>
  <cp:lastModifiedBy>Hayagreev Narayanan</cp:lastModifiedBy>
  <cp:revision>1</cp:revision>
  <dcterms:created xsi:type="dcterms:W3CDTF">2026-02-01T06:51:21Z</dcterms:created>
  <dcterms:modified xsi:type="dcterms:W3CDTF">2026-02-01T06:54:46Z</dcterms:modified>
</cp:coreProperties>
</file>